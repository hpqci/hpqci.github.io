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4" r:id="rId4"/>
    <p:sldId id="275" r:id="rId5"/>
    <p:sldId id="259" r:id="rId6"/>
    <p:sldId id="261" r:id="rId7"/>
    <p:sldId id="276" r:id="rId8"/>
    <p:sldId id="262" r:id="rId9"/>
    <p:sldId id="263" r:id="rId10"/>
    <p:sldId id="278" r:id="rId11"/>
    <p:sldId id="277" r:id="rId12"/>
    <p:sldId id="279" r:id="rId13"/>
    <p:sldId id="280" r:id="rId14"/>
    <p:sldId id="286" r:id="rId15"/>
    <p:sldId id="281" r:id="rId16"/>
    <p:sldId id="282" r:id="rId17"/>
    <p:sldId id="284" r:id="rId18"/>
    <p:sldId id="285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B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8"/>
    <p:restoredTop sz="94752"/>
  </p:normalViewPr>
  <p:slideViewPr>
    <p:cSldViewPr snapToGrid="0">
      <p:cViewPr varScale="1">
        <p:scale>
          <a:sx n="116" d="100"/>
          <a:sy n="116" d="100"/>
        </p:scale>
        <p:origin x="9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2EBC0-4176-6B49-AF2E-1577A1C9F111}" type="datetimeFigureOut">
              <a:rPr lang="it-IT" smtClean="0"/>
              <a:t>19/05/26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4B3C6-5722-E345-8F27-230EBAFA63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162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60E488-E225-8468-3848-695694C69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D164EA1-7A70-8353-6090-29AC2A57B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987BE91-69EA-5471-1A77-F2689D370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FC0A2-E33F-BE4C-8966-EC905F113A98}" type="datetimeFigureOut">
              <a:rPr lang="it-IT" smtClean="0"/>
              <a:t>19/05/26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50EC0F-AF4C-AC9F-94CB-41B140AF9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D53069-2873-D561-EEFC-8842D0DED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BA18-D754-B340-85DE-0B9CBB13E6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7613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77A2FA-0DBE-2CA9-370D-59D1D4D07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A86BDB-F72B-9228-D567-6ABD27FAC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D2081D-8AB6-8977-0C8E-65A4B5B48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FC0A2-E33F-BE4C-8966-EC905F113A98}" type="datetimeFigureOut">
              <a:rPr lang="it-IT" smtClean="0"/>
              <a:t>19/05/26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E41747-AAE2-B4F5-516D-34269295B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439F66-F665-06F3-0151-51362027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BA18-D754-B340-85DE-0B9CBB13E6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7760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9101F0-579C-90A1-EDE6-562D827FD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21876E2-1D99-05FC-4119-19A94D180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7E7A78D-B229-51AC-CA91-1CD0F4245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FC0A2-E33F-BE4C-8966-EC905F113A98}" type="datetimeFigureOut">
              <a:rPr lang="it-IT" smtClean="0"/>
              <a:t>19/05/26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5E78014-8A1A-72AF-A5F7-A4DC2DB93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0DCCDD5-2B00-7821-558C-EEDA38FD0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BA18-D754-B340-85DE-0B9CBB13E6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5448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7989FB-DB62-E5BC-5C03-7C1DA4D58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D11EE4C-87E9-7BE1-F6B6-53F18AFC0E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F4CEF4C-E277-86B0-B1C2-5980C49BC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DD96E2C-AEE4-C3E2-48B9-73D011E21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FC0A2-E33F-BE4C-8966-EC905F113A98}" type="datetimeFigureOut">
              <a:rPr lang="it-IT" smtClean="0"/>
              <a:t>19/05/26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4AFDE4-CCAE-3C88-9833-670CCD91F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C32E3ED-15C7-3DE8-3F89-615F75D01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BA18-D754-B340-85DE-0B9CBB13E6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3046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531005-8212-90D9-0C5F-5EC2BCBEB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E78251E-A8A8-1E08-26BF-59D8488F6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71A5507-F990-1B7A-328D-0059EF071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928CB6D-21AB-93A9-0423-C722DC82E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2A93378-24BC-FBC4-BBD0-DE267CA83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125188B-C5D4-60DA-A7DC-06EC031AF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FC0A2-E33F-BE4C-8966-EC905F113A98}" type="datetimeFigureOut">
              <a:rPr lang="it-IT" smtClean="0"/>
              <a:t>19/05/26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B2BA974-8940-981D-C73F-AEB27BD25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098B235-09BB-2147-AA4A-A58753C6A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BA18-D754-B340-85DE-0B9CBB13E6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6680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4FBBE-729C-DDE1-0E26-1DAB2CA3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6D07F4D-5261-A727-53BE-417A71B87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FC0A2-E33F-BE4C-8966-EC905F113A98}" type="datetimeFigureOut">
              <a:rPr lang="it-IT" smtClean="0"/>
              <a:t>19/05/26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5769F58-4A3D-F8A5-B89E-A97CE7092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6A9BC4B-3B3D-5EBD-F41E-CB7422F4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BA18-D754-B340-85DE-0B9CBB13E6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3068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F67DE7A-2FC5-7756-7890-78E2ABC62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FC0A2-E33F-BE4C-8966-EC905F113A98}" type="datetimeFigureOut">
              <a:rPr lang="it-IT" smtClean="0"/>
              <a:t>19/05/26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5B5D378-CFF0-10A7-6A49-7568CB279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C5A5203-9EF7-CAF6-BE02-84F6C5B0E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BA18-D754-B340-85DE-0B9CBB13E6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7002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2AD606-CD09-22CF-F662-55D0B5834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4224EE3-789C-FEA4-C590-61D89E9A2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378EA5A-F758-181A-75E4-0FB7382D3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4FDA9D9-0A44-8302-CFCA-02EC45845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FC0A2-E33F-BE4C-8966-EC905F113A98}" type="datetimeFigureOut">
              <a:rPr lang="it-IT" smtClean="0"/>
              <a:t>19/05/26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9A16B9E-DF5B-FE6E-DFB3-231A051F7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0E4777C-4D77-C352-4AF3-840C683CC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BA18-D754-B340-85DE-0B9CBB13E6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4293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B219FE-5308-A21C-5335-A0737978F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AC201E4-03EC-FF89-E054-22B8B762C8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9807F1F-4D26-3F1B-BF93-52E982E65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BBC94E6-FAC3-B574-31EF-ED82F850D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FC0A2-E33F-BE4C-8966-EC905F113A98}" type="datetimeFigureOut">
              <a:rPr lang="it-IT" smtClean="0"/>
              <a:t>19/05/26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49F9772-486E-FD10-CA90-1A3AF379F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F609977-FF05-9F51-B102-037C566DC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BA18-D754-B340-85DE-0B9CBB13E6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3882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A61CB6-7019-536D-C9D7-CBDD21BE8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F5F2EEF-732B-C88E-62B5-3C7596C93E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08CFCC0-58BC-792E-33BD-EFBDBE60D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FC0A2-E33F-BE4C-8966-EC905F113A98}" type="datetimeFigureOut">
              <a:rPr lang="it-IT" smtClean="0"/>
              <a:t>19/05/26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7E32258-D0DB-971F-7CB9-89F153D67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C5A6D9E-B76C-DF3C-C420-2E81D6CD1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BA18-D754-B340-85DE-0B9CBB13E6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1307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82D4762-CB5C-1EAB-3178-B6980564E7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3E87410-7AC2-44DB-062A-EAB033374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8CF012A-8697-365E-D89D-C323686F1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FC0A2-E33F-BE4C-8966-EC905F113A98}" type="datetimeFigureOut">
              <a:rPr lang="it-IT" smtClean="0"/>
              <a:t>19/05/26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04FC3F9-28C0-DAD5-A3C6-1A80BE0F9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9FACDC0-029E-8B59-C5CE-135B7D4F5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BA18-D754-B340-85DE-0B9CBB13E6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4370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448C539-AC8C-9D8F-7DE0-07A3E62A7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E662492-4DB4-61C5-1667-09C1FA391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B60D8C-A94A-C535-0F91-9AE1ACD05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0FC0A2-E33F-BE4C-8966-EC905F113A98}" type="datetimeFigureOut">
              <a:rPr lang="it-IT" smtClean="0"/>
              <a:t>19/05/26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3E2C14D-A50A-FE9E-1981-9D6903D7F1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E637FFA-6E82-6AAB-FC17-C9E610CD5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7BA18-D754-B340-85DE-0B9CBB13E68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789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B12B6A-0BB4-0F81-3E92-52364B135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088" y="748036"/>
            <a:ext cx="10983684" cy="2901758"/>
          </a:xfrm>
        </p:spPr>
        <p:txBody>
          <a:bodyPr>
            <a:noAutofit/>
          </a:bodyPr>
          <a:lstStyle/>
          <a:p>
            <a:r>
              <a:rPr lang="it-IT" sz="4800" dirty="0" err="1"/>
              <a:t>Compiling</a:t>
            </a:r>
            <a:r>
              <a:rPr lang="it-IT" sz="4800" dirty="0"/>
              <a:t> Linear Algebra </a:t>
            </a:r>
            <a:r>
              <a:rPr lang="it-IT" sz="4800" dirty="0" err="1"/>
              <a:t>Workloads</a:t>
            </a:r>
            <a:r>
              <a:rPr lang="it-IT" sz="4800" dirty="0"/>
              <a:t> from C to Quantum </a:t>
            </a:r>
            <a:r>
              <a:rPr lang="it-IT" sz="4800" dirty="0" err="1"/>
              <a:t>Circuits</a:t>
            </a:r>
            <a:r>
              <a:rPr lang="it-IT" sz="4800" dirty="0"/>
              <a:t> via Multi Level Intermediate </a:t>
            </a:r>
            <a:r>
              <a:rPr lang="it-IT" sz="4800" dirty="0" err="1"/>
              <a:t>Representation</a:t>
            </a:r>
            <a:br>
              <a:rPr lang="it-IT" dirty="0"/>
            </a:br>
            <a:endParaRPr lang="it-IT" sz="4800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C0E94AC-24AF-1B7E-8B2A-708F2AA95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4607" y="3451872"/>
            <a:ext cx="9927772" cy="926419"/>
          </a:xfrm>
        </p:spPr>
        <p:txBody>
          <a:bodyPr>
            <a:normAutofit/>
          </a:bodyPr>
          <a:lstStyle/>
          <a:p>
            <a:r>
              <a:rPr lang="it-IT" dirty="0"/>
              <a:t>Salvatore Pio Conte, Simone Cosenza, </a:t>
            </a:r>
            <a:r>
              <a:rPr lang="it-IT" b="1" u="sng" dirty="0"/>
              <a:t>Giacomo Lancellotti,</a:t>
            </a:r>
            <a:r>
              <a:rPr lang="it-IT" dirty="0"/>
              <a:t> and Giovanni Agosta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B34221D-59DF-D391-807C-AF6168E2A405}"/>
              </a:ext>
            </a:extLst>
          </p:cNvPr>
          <p:cNvSpPr txBox="1"/>
          <p:nvPr/>
        </p:nvSpPr>
        <p:spPr>
          <a:xfrm>
            <a:off x="468088" y="5399315"/>
            <a:ext cx="69428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International Workshop on High Performance and Quantum Computing Integration (HPQCI) @ CF'26</a:t>
            </a:r>
          </a:p>
          <a:p>
            <a:r>
              <a:rPr lang="it-IT" b="1" dirty="0"/>
              <a:t>Catania, Italy,  20 May 2026</a:t>
            </a:r>
          </a:p>
          <a:p>
            <a:endParaRPr lang="it-IT" dirty="0"/>
          </a:p>
        </p:txBody>
      </p:sp>
      <p:pic>
        <p:nvPicPr>
          <p:cNvPr id="6" name="Immagine 5" descr="Immagine che contiene testo, Carattere, logo, Elementi grafici  Il contenuto generato dall'IA potrebbe non essere corretto.">
            <a:extLst>
              <a:ext uri="{FF2B5EF4-FFF2-40B4-BE49-F238E27FC236}">
                <a16:creationId xmlns:a16="http://schemas.microsoft.com/office/drawing/2014/main" id="{E6CF3BFF-3EA3-5FB1-F5E5-2CE4D0E28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108" y="4881788"/>
            <a:ext cx="2045205" cy="1503102"/>
          </a:xfrm>
          <a:prstGeom prst="rect">
            <a:avLst/>
          </a:prstGeom>
        </p:spPr>
      </p:pic>
      <p:pic>
        <p:nvPicPr>
          <p:cNvPr id="8" name="Immagine 7" descr="Immagine che contiene schermata, Elementi grafici, simbolo, Policromia  Il contenuto generato dall'IA potrebbe non essere corretto.">
            <a:extLst>
              <a:ext uri="{FF2B5EF4-FFF2-40B4-BE49-F238E27FC236}">
                <a16:creationId xmlns:a16="http://schemas.microsoft.com/office/drawing/2014/main" id="{9B3D065D-F30D-E68D-4A5E-BB7B1364D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313" y="4659085"/>
            <a:ext cx="2006599" cy="200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22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ED7D64-64BA-C1B8-43A6-239061A04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066" y="376142"/>
            <a:ext cx="10515600" cy="1325563"/>
          </a:xfrm>
        </p:spPr>
        <p:txBody>
          <a:bodyPr/>
          <a:lstStyle/>
          <a:p>
            <a:r>
              <a:rPr lang="it-IT" dirty="0" err="1"/>
              <a:t>Classical</a:t>
            </a:r>
            <a:r>
              <a:rPr lang="it-IT" dirty="0"/>
              <a:t> Computing Model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320BAEC-ADA8-64F4-A3F0-A6B1F72012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0066" y="2063048"/>
            <a:ext cx="564246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dirty="0"/>
              <a:t>Today computer are </a:t>
            </a:r>
            <a:r>
              <a:rPr lang="it-IT" altLang="it-IT" dirty="0" err="1"/>
              <a:t>based</a:t>
            </a:r>
            <a:r>
              <a:rPr lang="it-IT" altLang="it-IT" dirty="0"/>
              <a:t> on the </a:t>
            </a:r>
            <a:r>
              <a:rPr lang="it-IT" altLang="it-IT" b="1" dirty="0"/>
              <a:t>Memory-Controller-CPU </a:t>
            </a:r>
            <a:r>
              <a:rPr lang="it-IT" altLang="it-IT" dirty="0" err="1"/>
              <a:t>architecture</a:t>
            </a:r>
            <a:r>
              <a:rPr lang="it-IT" altLang="it-IT" dirty="0"/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dirty="0"/>
              <a:t>The  full </a:t>
            </a:r>
            <a:r>
              <a:rPr lang="it-IT" altLang="it-IT" b="1" dirty="0"/>
              <a:t>computing </a:t>
            </a:r>
            <a:r>
              <a:rPr lang="it-IT" altLang="it-IT" b="1" dirty="0" err="1"/>
              <a:t>stack</a:t>
            </a:r>
            <a:r>
              <a:rPr lang="it-IT" altLang="it-IT" b="1" dirty="0"/>
              <a:t> </a:t>
            </a:r>
            <a:r>
              <a:rPr lang="it-IT" altLang="it-IT" dirty="0" err="1"/>
              <a:t>is</a:t>
            </a:r>
            <a:r>
              <a:rPr lang="it-IT" altLang="it-IT" dirty="0"/>
              <a:t> </a:t>
            </a:r>
            <a:r>
              <a:rPr lang="it-IT" altLang="it-IT" dirty="0" err="1"/>
              <a:t>built</a:t>
            </a:r>
            <a:r>
              <a:rPr lang="it-IT" altLang="it-IT" dirty="0"/>
              <a:t> on </a:t>
            </a:r>
            <a:r>
              <a:rPr lang="it-IT" altLang="it-IT" dirty="0" err="1"/>
              <a:t>this</a:t>
            </a:r>
            <a:r>
              <a:rPr lang="it-IT" altLang="it-IT" dirty="0"/>
              <a:t> model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b="1" dirty="0" err="1"/>
              <a:t>Architectural</a:t>
            </a:r>
            <a:r>
              <a:rPr lang="it-IT" altLang="it-IT" b="1" dirty="0"/>
              <a:t> Shift</a:t>
            </a:r>
            <a:r>
              <a:rPr lang="it-IT" altLang="it-IT" dirty="0"/>
              <a:t>: </a:t>
            </a:r>
            <a:r>
              <a:rPr lang="it-IT" altLang="it-IT" dirty="0" err="1"/>
              <a:t>Neuromorphic</a:t>
            </a:r>
            <a:r>
              <a:rPr lang="it-IT" altLang="it-IT" dirty="0"/>
              <a:t>, In-Memory, Quantum…</a:t>
            </a: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C6A0AC21-25F1-C1DF-A156-411330E077D3}"/>
              </a:ext>
            </a:extLst>
          </p:cNvPr>
          <p:cNvGrpSpPr/>
          <p:nvPr/>
        </p:nvGrpSpPr>
        <p:grpSpPr>
          <a:xfrm>
            <a:off x="7014544" y="2271783"/>
            <a:ext cx="4303560" cy="2947350"/>
            <a:chOff x="6847114" y="1847603"/>
            <a:chExt cx="4637315" cy="3320375"/>
          </a:xfrm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5DB15680-68E9-3707-E2CE-D587E0AFF9FE}"/>
                </a:ext>
              </a:extLst>
            </p:cNvPr>
            <p:cNvSpPr/>
            <p:nvPr/>
          </p:nvSpPr>
          <p:spPr>
            <a:xfrm>
              <a:off x="7200638" y="2225724"/>
              <a:ext cx="3804819" cy="9144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>
                  <a:solidFill>
                    <a:schemeClr val="tx1"/>
                  </a:solidFill>
                </a:rPr>
                <a:t>Memory</a:t>
              </a:r>
            </a:p>
          </p:txBody>
        </p:sp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3B25F99D-15C8-A3EF-030C-885659A15D4C}"/>
                </a:ext>
              </a:extLst>
            </p:cNvPr>
            <p:cNvSpPr/>
            <p:nvPr/>
          </p:nvSpPr>
          <p:spPr>
            <a:xfrm>
              <a:off x="7173947" y="3740636"/>
              <a:ext cx="1691943" cy="9144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>
                  <a:solidFill>
                    <a:schemeClr val="tx1"/>
                  </a:solidFill>
                </a:rPr>
                <a:t>Control Unit</a:t>
              </a:r>
            </a:p>
          </p:txBody>
        </p:sp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8F71A4C4-3C83-FA19-54F8-314F04FD4894}"/>
                </a:ext>
              </a:extLst>
            </p:cNvPr>
            <p:cNvSpPr/>
            <p:nvPr/>
          </p:nvSpPr>
          <p:spPr>
            <a:xfrm>
              <a:off x="9536147" y="3740636"/>
              <a:ext cx="1599939" cy="9144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 err="1">
                  <a:solidFill>
                    <a:schemeClr val="tx1"/>
                  </a:solidFill>
                </a:rPr>
                <a:t>Arithmetic</a:t>
              </a:r>
              <a:r>
                <a:rPr lang="it-IT" dirty="0">
                  <a:solidFill>
                    <a:schemeClr val="tx1"/>
                  </a:solidFill>
                </a:rPr>
                <a:t> Unit</a:t>
              </a:r>
            </a:p>
          </p:txBody>
        </p:sp>
        <p:sp>
          <p:nvSpPr>
            <p:cNvPr id="8" name="Freccia bidirezionale verticale 7">
              <a:extLst>
                <a:ext uri="{FF2B5EF4-FFF2-40B4-BE49-F238E27FC236}">
                  <a16:creationId xmlns:a16="http://schemas.microsoft.com/office/drawing/2014/main" id="{1FF8943E-0ABF-CCAA-114F-58C647E4AABB}"/>
                </a:ext>
              </a:extLst>
            </p:cNvPr>
            <p:cNvSpPr/>
            <p:nvPr/>
          </p:nvSpPr>
          <p:spPr>
            <a:xfrm>
              <a:off x="7905618" y="3180428"/>
              <a:ext cx="228600" cy="522514"/>
            </a:xfrm>
            <a:prstGeom prst="upDown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Freccia bidirezionale verticale 8">
              <a:extLst>
                <a:ext uri="{FF2B5EF4-FFF2-40B4-BE49-F238E27FC236}">
                  <a16:creationId xmlns:a16="http://schemas.microsoft.com/office/drawing/2014/main" id="{A3036DB7-8AA3-7073-AE73-05C5E1CDE2A6}"/>
                </a:ext>
              </a:extLst>
            </p:cNvPr>
            <p:cNvSpPr/>
            <p:nvPr/>
          </p:nvSpPr>
          <p:spPr>
            <a:xfrm>
              <a:off x="10075514" y="3190009"/>
              <a:ext cx="228600" cy="522514"/>
            </a:xfrm>
            <a:prstGeom prst="upDown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10" name="Freccia bidirezionale verticale 9">
              <a:extLst>
                <a:ext uri="{FF2B5EF4-FFF2-40B4-BE49-F238E27FC236}">
                  <a16:creationId xmlns:a16="http://schemas.microsoft.com/office/drawing/2014/main" id="{618D107F-04E9-142C-1567-EC5B65BAD628}"/>
                </a:ext>
              </a:extLst>
            </p:cNvPr>
            <p:cNvSpPr/>
            <p:nvPr/>
          </p:nvSpPr>
          <p:spPr>
            <a:xfrm rot="5400000">
              <a:off x="9076357" y="3936579"/>
              <a:ext cx="228600" cy="522514"/>
            </a:xfrm>
            <a:prstGeom prst="upDown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4839AC75-618A-F774-7A87-8CE65958BC66}"/>
                </a:ext>
              </a:extLst>
            </p:cNvPr>
            <p:cNvSpPr/>
            <p:nvPr/>
          </p:nvSpPr>
          <p:spPr>
            <a:xfrm>
              <a:off x="6847114" y="1847603"/>
              <a:ext cx="4637315" cy="332037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14" name="Rettangolo 13">
            <a:extLst>
              <a:ext uri="{FF2B5EF4-FFF2-40B4-BE49-F238E27FC236}">
                <a16:creationId xmlns:a16="http://schemas.microsoft.com/office/drawing/2014/main" id="{03C43966-C0F4-E711-280A-98CB46BFF58E}"/>
              </a:ext>
            </a:extLst>
          </p:cNvPr>
          <p:cNvSpPr/>
          <p:nvPr/>
        </p:nvSpPr>
        <p:spPr>
          <a:xfrm>
            <a:off x="8764535" y="1200357"/>
            <a:ext cx="782961" cy="60274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E80243AF-08F0-6179-9201-5DE8965CE3E7}"/>
              </a:ext>
            </a:extLst>
          </p:cNvPr>
          <p:cNvSpPr/>
          <p:nvPr/>
        </p:nvSpPr>
        <p:spPr>
          <a:xfrm>
            <a:off x="8721208" y="5657643"/>
            <a:ext cx="890232" cy="64176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17" name="Freccia destra 16">
            <a:extLst>
              <a:ext uri="{FF2B5EF4-FFF2-40B4-BE49-F238E27FC236}">
                <a16:creationId xmlns:a16="http://schemas.microsoft.com/office/drawing/2014/main" id="{84D208AD-4F1A-4329-1CDD-F8C295BBC575}"/>
              </a:ext>
            </a:extLst>
          </p:cNvPr>
          <p:cNvSpPr/>
          <p:nvPr/>
        </p:nvSpPr>
        <p:spPr>
          <a:xfrm rot="5400000">
            <a:off x="9012602" y="1930203"/>
            <a:ext cx="307444" cy="23538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Freccia destra 18">
            <a:extLst>
              <a:ext uri="{FF2B5EF4-FFF2-40B4-BE49-F238E27FC236}">
                <a16:creationId xmlns:a16="http://schemas.microsoft.com/office/drawing/2014/main" id="{001E1144-14BA-0F82-3ABA-8942877E46C2}"/>
              </a:ext>
            </a:extLst>
          </p:cNvPr>
          <p:cNvSpPr/>
          <p:nvPr/>
        </p:nvSpPr>
        <p:spPr>
          <a:xfrm rot="5400000">
            <a:off x="9012602" y="5331261"/>
            <a:ext cx="307444" cy="23538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15608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C8288-EAEA-6F97-5B6B-CBC4A00C2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500123-4D5C-FF8B-33C5-775EAEBC6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Quantum Computing Model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5AFAA3-3865-6768-6FD4-9ADA0103A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934" y="2118565"/>
            <a:ext cx="4504981" cy="4019188"/>
          </a:xfrm>
        </p:spPr>
        <p:txBody>
          <a:bodyPr>
            <a:normAutofit/>
          </a:bodyPr>
          <a:lstStyle/>
          <a:p>
            <a:r>
              <a:rPr lang="it-IT" b="1" dirty="0"/>
              <a:t>No von Neumann </a:t>
            </a:r>
            <a:r>
              <a:rPr lang="it-IT" dirty="0" err="1"/>
              <a:t>architecture</a:t>
            </a:r>
            <a:r>
              <a:rPr lang="it-IT" dirty="0"/>
              <a:t> (</a:t>
            </a:r>
            <a:r>
              <a:rPr lang="it-IT" dirty="0" err="1"/>
              <a:t>yet</a:t>
            </a:r>
            <a:r>
              <a:rPr lang="it-IT" dirty="0"/>
              <a:t>, or </a:t>
            </a:r>
            <a:r>
              <a:rPr lang="it-IT" dirty="0" err="1"/>
              <a:t>maybe</a:t>
            </a:r>
            <a:r>
              <a:rPr lang="it-IT" dirty="0"/>
              <a:t> </a:t>
            </a:r>
            <a:r>
              <a:rPr lang="it-IT" dirty="0" err="1"/>
              <a:t>never</a:t>
            </a:r>
            <a:r>
              <a:rPr lang="it-IT" dirty="0"/>
              <a:t>)</a:t>
            </a:r>
          </a:p>
          <a:p>
            <a:r>
              <a:rPr lang="it-IT" b="1" dirty="0"/>
              <a:t>Multi-</a:t>
            </a:r>
            <a:r>
              <a:rPr lang="it-IT" b="1" dirty="0" err="1"/>
              <a:t>layered</a:t>
            </a:r>
            <a:r>
              <a:rPr lang="it-IT" b="1" dirty="0"/>
              <a:t> </a:t>
            </a:r>
            <a:r>
              <a:rPr lang="it-IT" b="1" dirty="0" err="1"/>
              <a:t>stack</a:t>
            </a:r>
            <a:r>
              <a:rPr lang="it-IT" b="1" dirty="0"/>
              <a:t> </a:t>
            </a:r>
            <a:endParaRPr lang="it-IT" dirty="0"/>
          </a:p>
          <a:p>
            <a:r>
              <a:rPr lang="it-IT" dirty="0"/>
              <a:t>Think more like a </a:t>
            </a:r>
            <a:r>
              <a:rPr lang="it-IT" b="1" dirty="0"/>
              <a:t>stream of </a:t>
            </a:r>
            <a:r>
              <a:rPr lang="it-IT" b="1" dirty="0" err="1"/>
              <a:t>operations</a:t>
            </a:r>
            <a:r>
              <a:rPr lang="it-IT" dirty="0"/>
              <a:t> on the Quantum Processing Unit (</a:t>
            </a:r>
            <a:r>
              <a:rPr lang="it-IT" b="1" dirty="0"/>
              <a:t>QPU</a:t>
            </a:r>
            <a:r>
              <a:rPr lang="it-IT" dirty="0"/>
              <a:t>)</a:t>
            </a:r>
          </a:p>
          <a:p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2DA76BB-82B3-C470-292F-ABBA83ABC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336" y="2522447"/>
            <a:ext cx="2943778" cy="2482771"/>
          </a:xfrm>
          <a:prstGeom prst="rect">
            <a:avLst/>
          </a:prstGeom>
        </p:spPr>
      </p:pic>
      <p:grpSp>
        <p:nvGrpSpPr>
          <p:cNvPr id="18" name="Gruppo 17">
            <a:extLst>
              <a:ext uri="{FF2B5EF4-FFF2-40B4-BE49-F238E27FC236}">
                <a16:creationId xmlns:a16="http://schemas.microsoft.com/office/drawing/2014/main" id="{4F5CBD88-5796-DBD0-84DB-05CCB4BED9E8}"/>
              </a:ext>
            </a:extLst>
          </p:cNvPr>
          <p:cNvGrpSpPr/>
          <p:nvPr/>
        </p:nvGrpSpPr>
        <p:grpSpPr>
          <a:xfrm>
            <a:off x="8680536" y="1690688"/>
            <a:ext cx="3298979" cy="4167900"/>
            <a:chOff x="7174027" y="2002328"/>
            <a:chExt cx="4354552" cy="4167900"/>
          </a:xfrm>
        </p:grpSpPr>
        <p:grpSp>
          <p:nvGrpSpPr>
            <p:cNvPr id="7" name="Gruppo 6">
              <a:extLst>
                <a:ext uri="{FF2B5EF4-FFF2-40B4-BE49-F238E27FC236}">
                  <a16:creationId xmlns:a16="http://schemas.microsoft.com/office/drawing/2014/main" id="{6F98D25C-0BEF-AFE4-323F-4CBA287EE9D1}"/>
                </a:ext>
              </a:extLst>
            </p:cNvPr>
            <p:cNvGrpSpPr/>
            <p:nvPr/>
          </p:nvGrpSpPr>
          <p:grpSpPr>
            <a:xfrm>
              <a:off x="7174027" y="2002328"/>
              <a:ext cx="4354552" cy="4167900"/>
              <a:chOff x="7206194" y="1839490"/>
              <a:chExt cx="4354552" cy="4167900"/>
            </a:xfrm>
          </p:grpSpPr>
          <p:sp>
            <p:nvSpPr>
              <p:cNvPr id="8" name="Rettangolo 7">
                <a:extLst>
                  <a:ext uri="{FF2B5EF4-FFF2-40B4-BE49-F238E27FC236}">
                    <a16:creationId xmlns:a16="http://schemas.microsoft.com/office/drawing/2014/main" id="{3049DCD6-9E7C-DEB2-7CE8-E8CB3538C7BF}"/>
                  </a:ext>
                </a:extLst>
              </p:cNvPr>
              <p:cNvSpPr/>
              <p:nvPr/>
            </p:nvSpPr>
            <p:spPr>
              <a:xfrm>
                <a:off x="7206194" y="1839491"/>
                <a:ext cx="3429000" cy="69315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dirty="0">
                    <a:solidFill>
                      <a:schemeClr val="tx1"/>
                    </a:solidFill>
                  </a:rPr>
                  <a:t>High-Level Language</a:t>
                </a:r>
              </a:p>
            </p:txBody>
          </p:sp>
          <p:sp>
            <p:nvSpPr>
              <p:cNvPr id="9" name="Rettangolo 8">
                <a:extLst>
                  <a:ext uri="{FF2B5EF4-FFF2-40B4-BE49-F238E27FC236}">
                    <a16:creationId xmlns:a16="http://schemas.microsoft.com/office/drawing/2014/main" id="{74F65F36-745B-5621-D925-96D3F8A4B098}"/>
                  </a:ext>
                </a:extLst>
              </p:cNvPr>
              <p:cNvSpPr/>
              <p:nvPr/>
            </p:nvSpPr>
            <p:spPr>
              <a:xfrm>
                <a:off x="7206194" y="2532643"/>
                <a:ext cx="3429000" cy="69315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dirty="0">
                    <a:solidFill>
                      <a:schemeClr val="tx1"/>
                    </a:solidFill>
                  </a:rPr>
                  <a:t>Compiler IR</a:t>
                </a:r>
              </a:p>
            </p:txBody>
          </p:sp>
          <p:sp>
            <p:nvSpPr>
              <p:cNvPr id="10" name="Rettangolo 9">
                <a:extLst>
                  <a:ext uri="{FF2B5EF4-FFF2-40B4-BE49-F238E27FC236}">
                    <a16:creationId xmlns:a16="http://schemas.microsoft.com/office/drawing/2014/main" id="{F675B509-B9F3-388A-EC06-118EEF04C2D5}"/>
                  </a:ext>
                </a:extLst>
              </p:cNvPr>
              <p:cNvSpPr/>
              <p:nvPr/>
            </p:nvSpPr>
            <p:spPr>
              <a:xfrm>
                <a:off x="7206194" y="3225795"/>
                <a:ext cx="3429000" cy="69315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dirty="0">
                    <a:solidFill>
                      <a:schemeClr val="tx1"/>
                    </a:solidFill>
                  </a:rPr>
                  <a:t>Quantum Assembly</a:t>
                </a:r>
              </a:p>
            </p:txBody>
          </p:sp>
          <p:sp>
            <p:nvSpPr>
              <p:cNvPr id="13" name="Rettangolo 12">
                <a:extLst>
                  <a:ext uri="{FF2B5EF4-FFF2-40B4-BE49-F238E27FC236}">
                    <a16:creationId xmlns:a16="http://schemas.microsoft.com/office/drawing/2014/main" id="{49547099-63CD-16B8-EC01-E97B5484B50F}"/>
                  </a:ext>
                </a:extLst>
              </p:cNvPr>
              <p:cNvSpPr/>
              <p:nvPr/>
            </p:nvSpPr>
            <p:spPr>
              <a:xfrm>
                <a:off x="7206194" y="3912635"/>
                <a:ext cx="3429000" cy="693152"/>
              </a:xfrm>
              <a:prstGeom prst="rect">
                <a:avLst/>
              </a:prstGeom>
              <a:solidFill>
                <a:srgbClr val="EDEB7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dirty="0" err="1">
                    <a:solidFill>
                      <a:schemeClr val="tx1"/>
                    </a:solidFill>
                  </a:rPr>
                  <a:t>Error</a:t>
                </a:r>
                <a:r>
                  <a:rPr lang="it-IT" dirty="0">
                    <a:solidFill>
                      <a:schemeClr val="tx1"/>
                    </a:solidFill>
                  </a:rPr>
                  <a:t> </a:t>
                </a:r>
                <a:r>
                  <a:rPr lang="it-IT" dirty="0" err="1">
                    <a:solidFill>
                      <a:schemeClr val="tx1"/>
                    </a:solidFill>
                  </a:rPr>
                  <a:t>Correction</a:t>
                </a:r>
                <a:endParaRPr lang="it-IT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ttangolo 13">
                <a:extLst>
                  <a:ext uri="{FF2B5EF4-FFF2-40B4-BE49-F238E27FC236}">
                    <a16:creationId xmlns:a16="http://schemas.microsoft.com/office/drawing/2014/main" id="{ADDFA67C-54C8-7473-0EB7-F8DB85158989}"/>
                  </a:ext>
                </a:extLst>
              </p:cNvPr>
              <p:cNvSpPr/>
              <p:nvPr/>
            </p:nvSpPr>
            <p:spPr>
              <a:xfrm>
                <a:off x="7206194" y="5314238"/>
                <a:ext cx="3429000" cy="69315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dirty="0" err="1">
                    <a:solidFill>
                      <a:schemeClr val="tx1"/>
                    </a:solidFill>
                  </a:rPr>
                  <a:t>Physical</a:t>
                </a:r>
                <a:r>
                  <a:rPr lang="it-IT" dirty="0">
                    <a:solidFill>
                      <a:schemeClr val="tx1"/>
                    </a:solidFill>
                  </a:rPr>
                  <a:t> Hardware</a:t>
                </a:r>
              </a:p>
            </p:txBody>
          </p:sp>
          <p:sp>
            <p:nvSpPr>
              <p:cNvPr id="15" name="Freccia su 14">
                <a:extLst>
                  <a:ext uri="{FF2B5EF4-FFF2-40B4-BE49-F238E27FC236}">
                    <a16:creationId xmlns:a16="http://schemas.microsoft.com/office/drawing/2014/main" id="{F2946248-1986-878C-C848-B8CED60D82A6}"/>
                  </a:ext>
                </a:extLst>
              </p:cNvPr>
              <p:cNvSpPr/>
              <p:nvPr/>
            </p:nvSpPr>
            <p:spPr>
              <a:xfrm>
                <a:off x="10734806" y="1839490"/>
                <a:ext cx="456608" cy="4167899"/>
              </a:xfrm>
              <a:prstGeom prst="upArrow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2C971E4E-49BF-A003-7E5B-6EBEA3B30B35}"/>
                  </a:ext>
                </a:extLst>
              </p:cNvPr>
              <p:cNvSpPr txBox="1"/>
              <p:nvPr/>
            </p:nvSpPr>
            <p:spPr>
              <a:xfrm rot="5400000">
                <a:off x="10424794" y="3714435"/>
                <a:ext cx="19025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 err="1"/>
                  <a:t>Abstraction</a:t>
                </a:r>
                <a:r>
                  <a:rPr lang="it-IT" dirty="0"/>
                  <a:t> Level</a:t>
                </a:r>
              </a:p>
            </p:txBody>
          </p:sp>
        </p:grp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2C26E0AB-E503-300C-D27D-43159796B641}"/>
                </a:ext>
              </a:extLst>
            </p:cNvPr>
            <p:cNvSpPr/>
            <p:nvPr/>
          </p:nvSpPr>
          <p:spPr>
            <a:xfrm>
              <a:off x="7174027" y="4771917"/>
              <a:ext cx="3429000" cy="69315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>
                  <a:solidFill>
                    <a:schemeClr val="tx1"/>
                  </a:solidFill>
                </a:rPr>
                <a:t>ISA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1812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BEDE0-F56D-7001-B91B-51CCDCEA3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296DC4-187D-C1DB-521C-54C72A493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Quantum Programming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F33A9C4-AE56-EBA6-6B27-8450F1329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5550"/>
            <a:ext cx="5226820" cy="2093863"/>
          </a:xfrm>
        </p:spPr>
        <p:txBody>
          <a:bodyPr>
            <a:normAutofit/>
          </a:bodyPr>
          <a:lstStyle/>
          <a:p>
            <a:r>
              <a:rPr lang="it-IT" b="1" dirty="0"/>
              <a:t>Circuit</a:t>
            </a:r>
            <a:r>
              <a:rPr lang="it-IT" dirty="0"/>
              <a:t>-</a:t>
            </a:r>
            <a:r>
              <a:rPr lang="it-IT" dirty="0" err="1"/>
              <a:t>level</a:t>
            </a:r>
            <a:r>
              <a:rPr lang="it-IT" dirty="0"/>
              <a:t> </a:t>
            </a:r>
            <a:r>
              <a:rPr lang="it-IT" dirty="0" err="1"/>
              <a:t>abstraction</a:t>
            </a:r>
            <a:endParaRPr lang="it-IT" dirty="0"/>
          </a:p>
          <a:p>
            <a:r>
              <a:rPr lang="it-IT" b="1" dirty="0" err="1"/>
              <a:t>Qubits</a:t>
            </a:r>
            <a:r>
              <a:rPr lang="it-IT" dirty="0"/>
              <a:t> </a:t>
            </a:r>
            <a:r>
              <a:rPr lang="it-IT" dirty="0" err="1"/>
              <a:t>function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b="1" dirty="0" err="1"/>
              <a:t>registers</a:t>
            </a:r>
            <a:r>
              <a:rPr lang="it-IT" dirty="0"/>
              <a:t>, </a:t>
            </a:r>
            <a:r>
              <a:rPr lang="it-IT" dirty="0" err="1"/>
              <a:t>while</a:t>
            </a:r>
            <a:r>
              <a:rPr lang="it-IT" dirty="0"/>
              <a:t> quantum </a:t>
            </a:r>
            <a:r>
              <a:rPr lang="it-IT" b="1" dirty="0"/>
              <a:t>gates</a:t>
            </a:r>
            <a:r>
              <a:rPr lang="it-IT" dirty="0"/>
              <a:t> serve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b="1" dirty="0" err="1"/>
              <a:t>instructions</a:t>
            </a:r>
            <a:endParaRPr lang="it-IT" b="1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ABA5F6C1-92B9-7853-40FA-E54DBED0A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878" y="2034492"/>
            <a:ext cx="2987759" cy="4050846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3796CBD0-11F6-9D18-F629-569A40F39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07" y="4159413"/>
            <a:ext cx="4011399" cy="2042627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993EDA7E-C160-7EB3-BFF1-8428F2825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692" y="2065550"/>
            <a:ext cx="2438429" cy="392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994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16F2CF-DB46-CD2F-4FC3-E24DA09CD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From C Programs to Quantum </a:t>
            </a:r>
            <a:r>
              <a:rPr lang="it-IT" dirty="0" err="1"/>
              <a:t>Circuits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E7E1E2-9A2B-BBED-A9C2-1A11DA065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3169"/>
            <a:ext cx="5975773" cy="4573794"/>
          </a:xfrm>
        </p:spPr>
        <p:txBody>
          <a:bodyPr>
            <a:normAutofit/>
          </a:bodyPr>
          <a:lstStyle/>
          <a:p>
            <a:r>
              <a:rPr lang="it-IT" b="1" dirty="0" err="1"/>
              <a:t>Bridging</a:t>
            </a:r>
            <a:r>
              <a:rPr lang="it-IT" b="1" dirty="0"/>
              <a:t> the gap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classical</a:t>
            </a:r>
            <a:r>
              <a:rPr lang="it-IT" dirty="0"/>
              <a:t> and quantum programming</a:t>
            </a:r>
          </a:p>
          <a:p>
            <a:r>
              <a:rPr lang="it-IT" dirty="0" err="1"/>
              <a:t>Facilitating</a:t>
            </a:r>
            <a:r>
              <a:rPr lang="it-IT" dirty="0"/>
              <a:t> the </a:t>
            </a:r>
            <a:r>
              <a:rPr lang="it-IT" b="1" dirty="0" err="1"/>
              <a:t>integration</a:t>
            </a:r>
            <a:r>
              <a:rPr lang="it-IT" dirty="0"/>
              <a:t> of quantum systems </a:t>
            </a:r>
            <a:r>
              <a:rPr lang="it-IT" dirty="0" err="1"/>
              <a:t>into</a:t>
            </a:r>
            <a:r>
              <a:rPr lang="it-IT" dirty="0"/>
              <a:t> </a:t>
            </a:r>
            <a:r>
              <a:rPr lang="it-IT" dirty="0" err="1"/>
              <a:t>classical</a:t>
            </a:r>
            <a:r>
              <a:rPr lang="it-IT" dirty="0"/>
              <a:t> workflows </a:t>
            </a:r>
          </a:p>
          <a:p>
            <a:r>
              <a:rPr lang="it-IT" b="1" dirty="0" err="1"/>
              <a:t>Reuse</a:t>
            </a:r>
            <a:r>
              <a:rPr lang="it-IT" dirty="0"/>
              <a:t> of large </a:t>
            </a:r>
            <a:r>
              <a:rPr lang="it-IT" dirty="0" err="1"/>
              <a:t>codebases</a:t>
            </a:r>
            <a:endParaRPr lang="it-IT" dirty="0"/>
          </a:p>
          <a:p>
            <a:r>
              <a:rPr lang="it-IT" dirty="0"/>
              <a:t>Can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translate</a:t>
            </a:r>
            <a:r>
              <a:rPr lang="it-IT" dirty="0"/>
              <a:t> </a:t>
            </a:r>
            <a:r>
              <a:rPr lang="it-IT" b="1" dirty="0"/>
              <a:t>C </a:t>
            </a:r>
            <a:r>
              <a:rPr lang="it-IT" b="1" dirty="0" err="1"/>
              <a:t>programs</a:t>
            </a:r>
            <a:r>
              <a:rPr lang="it-IT" b="1" dirty="0"/>
              <a:t> to quantum </a:t>
            </a:r>
            <a:r>
              <a:rPr lang="it-IT" b="1" dirty="0" err="1"/>
              <a:t>circuits</a:t>
            </a:r>
            <a:r>
              <a:rPr lang="it-IT" dirty="0"/>
              <a:t>?  Yes… with some </a:t>
            </a:r>
            <a:r>
              <a:rPr lang="it-IT" dirty="0" err="1"/>
              <a:t>tricks</a:t>
            </a:r>
            <a:endParaRPr lang="it-IT" dirty="0"/>
          </a:p>
          <a:p>
            <a:endParaRPr lang="it-IT" b="1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3CBF7B4-2F95-14E3-E409-40E958E22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973" y="2400728"/>
            <a:ext cx="5206686" cy="285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655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B7DD8D-CB71-0815-A72F-3EFD926D3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QuantumC</a:t>
            </a:r>
            <a:endParaRPr lang="it-IT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3DDF7A-D76F-B24C-DC63-05A1C7ADE8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0771" y="1597810"/>
            <a:ext cx="5364296" cy="2074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High-</a:t>
            </a:r>
            <a:r>
              <a:rPr lang="it-IT" dirty="0" err="1"/>
              <a:t>level</a:t>
            </a:r>
            <a:r>
              <a:rPr lang="it-IT" dirty="0"/>
              <a:t> </a:t>
            </a:r>
            <a:r>
              <a:rPr lang="it-IT" dirty="0" err="1"/>
              <a:t>synthesis</a:t>
            </a:r>
            <a:r>
              <a:rPr lang="it-IT" dirty="0"/>
              <a:t> </a:t>
            </a:r>
            <a:r>
              <a:rPr lang="it-IT" dirty="0" err="1"/>
              <a:t>toolchain</a:t>
            </a:r>
            <a:r>
              <a:rPr lang="it-IT" dirty="0"/>
              <a:t> to </a:t>
            </a:r>
            <a:r>
              <a:rPr lang="it-IT" dirty="0" err="1"/>
              <a:t>translate</a:t>
            </a:r>
            <a:r>
              <a:rPr lang="it-IT" dirty="0"/>
              <a:t> </a:t>
            </a:r>
            <a:r>
              <a:rPr lang="it-IT" b="1" dirty="0"/>
              <a:t>C </a:t>
            </a:r>
            <a:r>
              <a:rPr lang="it-IT" b="1" dirty="0" err="1"/>
              <a:t>programs</a:t>
            </a:r>
            <a:r>
              <a:rPr lang="it-IT" b="1" dirty="0"/>
              <a:t> </a:t>
            </a:r>
            <a:r>
              <a:rPr lang="it-IT" dirty="0" err="1"/>
              <a:t>into</a:t>
            </a:r>
            <a:r>
              <a:rPr lang="it-IT" dirty="0"/>
              <a:t> </a:t>
            </a:r>
            <a:r>
              <a:rPr lang="it-IT" b="1" dirty="0"/>
              <a:t>quantum </a:t>
            </a:r>
            <a:r>
              <a:rPr lang="it-IT" b="1" dirty="0" err="1"/>
              <a:t>circuits</a:t>
            </a:r>
            <a:br>
              <a:rPr lang="it-IT" dirty="0"/>
            </a:br>
            <a:endParaRPr lang="it-IT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it-IT" altLang="it-IT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697C810-06F0-38DC-9E78-FB7A0B8F2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667" y="3204384"/>
            <a:ext cx="5469495" cy="2191712"/>
          </a:xfrm>
          <a:prstGeom prst="rect">
            <a:avLst/>
          </a:prstGeom>
        </p:spPr>
      </p:pic>
      <p:grpSp>
        <p:nvGrpSpPr>
          <p:cNvPr id="16" name="Gruppo 15">
            <a:extLst>
              <a:ext uri="{FF2B5EF4-FFF2-40B4-BE49-F238E27FC236}">
                <a16:creationId xmlns:a16="http://schemas.microsoft.com/office/drawing/2014/main" id="{E48A6889-9AED-1C32-5A49-3844D4CA2AF9}"/>
              </a:ext>
            </a:extLst>
          </p:cNvPr>
          <p:cNvGrpSpPr/>
          <p:nvPr/>
        </p:nvGrpSpPr>
        <p:grpSpPr>
          <a:xfrm>
            <a:off x="8292080" y="1396925"/>
            <a:ext cx="2291938" cy="4427141"/>
            <a:chOff x="9061862" y="1677218"/>
            <a:chExt cx="2291938" cy="4427141"/>
          </a:xfrm>
        </p:grpSpPr>
        <p:sp>
          <p:nvSpPr>
            <p:cNvPr id="5" name="Rettangolo con angoli arrotondati 4">
              <a:extLst>
                <a:ext uri="{FF2B5EF4-FFF2-40B4-BE49-F238E27FC236}">
                  <a16:creationId xmlns:a16="http://schemas.microsoft.com/office/drawing/2014/main" id="{E7FAFD37-8321-AC8E-5734-12BE6766E68E}"/>
                </a:ext>
              </a:extLst>
            </p:cNvPr>
            <p:cNvSpPr/>
            <p:nvPr/>
          </p:nvSpPr>
          <p:spPr>
            <a:xfrm>
              <a:off x="9061862" y="1677218"/>
              <a:ext cx="2291938" cy="61751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>
                  <a:solidFill>
                    <a:sysClr val="windowText" lastClr="000000"/>
                  </a:solidFill>
                </a:rPr>
                <a:t>C-source</a:t>
              </a:r>
              <a:endParaRPr lang="it-IT" dirty="0"/>
            </a:p>
          </p:txBody>
        </p:sp>
        <p:sp>
          <p:nvSpPr>
            <p:cNvPr id="7" name="Rettangolo con angoli arrotondati 6">
              <a:extLst>
                <a:ext uri="{FF2B5EF4-FFF2-40B4-BE49-F238E27FC236}">
                  <a16:creationId xmlns:a16="http://schemas.microsoft.com/office/drawing/2014/main" id="{AB46C8E0-4C70-F116-8C31-1FDDF133BEC3}"/>
                </a:ext>
              </a:extLst>
            </p:cNvPr>
            <p:cNvSpPr/>
            <p:nvPr/>
          </p:nvSpPr>
          <p:spPr>
            <a:xfrm>
              <a:off x="9061862" y="2606552"/>
              <a:ext cx="2291938" cy="61751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>
                  <a:solidFill>
                    <a:sysClr val="windowText" lastClr="000000"/>
                  </a:solidFill>
                </a:rPr>
                <a:t>AST </a:t>
              </a:r>
              <a:r>
                <a:rPr lang="it-IT" dirty="0" err="1">
                  <a:solidFill>
                    <a:sysClr val="windowText" lastClr="000000"/>
                  </a:solidFill>
                </a:rPr>
                <a:t>construction</a:t>
              </a:r>
              <a:endParaRPr lang="it-IT" dirty="0"/>
            </a:p>
          </p:txBody>
        </p:sp>
        <p:sp>
          <p:nvSpPr>
            <p:cNvPr id="8" name="Rettangolo con angoli arrotondati 7">
              <a:extLst>
                <a:ext uri="{FF2B5EF4-FFF2-40B4-BE49-F238E27FC236}">
                  <a16:creationId xmlns:a16="http://schemas.microsoft.com/office/drawing/2014/main" id="{45F31DD1-CC39-5D1C-5E77-B49CB13127E6}"/>
                </a:ext>
              </a:extLst>
            </p:cNvPr>
            <p:cNvSpPr/>
            <p:nvPr/>
          </p:nvSpPr>
          <p:spPr>
            <a:xfrm>
              <a:off x="9061862" y="3572527"/>
              <a:ext cx="2291938" cy="61751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>
                  <a:solidFill>
                    <a:sysClr val="windowText" lastClr="000000"/>
                  </a:solidFill>
                </a:rPr>
                <a:t>Quantum </a:t>
              </a:r>
              <a:r>
                <a:rPr lang="it-IT" dirty="0" err="1">
                  <a:solidFill>
                    <a:sysClr val="windowText" lastClr="000000"/>
                  </a:solidFill>
                </a:rPr>
                <a:t>Aware</a:t>
              </a:r>
              <a:r>
                <a:rPr lang="it-IT" dirty="0">
                  <a:solidFill>
                    <a:sysClr val="windowText" lastClr="000000"/>
                  </a:solidFill>
                </a:rPr>
                <a:t> IR</a:t>
              </a:r>
              <a:endParaRPr lang="it-IT" dirty="0"/>
            </a:p>
          </p:txBody>
        </p:sp>
        <p:sp>
          <p:nvSpPr>
            <p:cNvPr id="9" name="Rettangolo con angoli arrotondati 8">
              <a:extLst>
                <a:ext uri="{FF2B5EF4-FFF2-40B4-BE49-F238E27FC236}">
                  <a16:creationId xmlns:a16="http://schemas.microsoft.com/office/drawing/2014/main" id="{E9E59969-A145-205A-7701-1C3AAC6945EA}"/>
                </a:ext>
              </a:extLst>
            </p:cNvPr>
            <p:cNvSpPr/>
            <p:nvPr/>
          </p:nvSpPr>
          <p:spPr>
            <a:xfrm>
              <a:off x="9061862" y="4538502"/>
              <a:ext cx="2291938" cy="61751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>
                  <a:solidFill>
                    <a:sysClr val="windowText" lastClr="000000"/>
                  </a:solidFill>
                </a:rPr>
                <a:t>Quantum IR</a:t>
              </a:r>
              <a:endParaRPr lang="it-IT" dirty="0"/>
            </a:p>
          </p:txBody>
        </p:sp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DFF87000-AC0A-3540-50EB-16F7535897EE}"/>
                </a:ext>
              </a:extLst>
            </p:cNvPr>
            <p:cNvSpPr/>
            <p:nvPr/>
          </p:nvSpPr>
          <p:spPr>
            <a:xfrm>
              <a:off x="9061862" y="5486842"/>
              <a:ext cx="2291938" cy="61751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>
                  <a:solidFill>
                    <a:sysClr val="windowText" lastClr="000000"/>
                  </a:solidFill>
                </a:rPr>
                <a:t>QASM </a:t>
              </a:r>
              <a:r>
                <a:rPr lang="it-IT" dirty="0" err="1">
                  <a:solidFill>
                    <a:sysClr val="windowText" lastClr="000000"/>
                  </a:solidFill>
                </a:rPr>
                <a:t>circuit</a:t>
              </a:r>
              <a:endParaRPr lang="it-IT" dirty="0"/>
            </a:p>
          </p:txBody>
        </p:sp>
        <p:sp>
          <p:nvSpPr>
            <p:cNvPr id="11" name="Freccia giù 10">
              <a:extLst>
                <a:ext uri="{FF2B5EF4-FFF2-40B4-BE49-F238E27FC236}">
                  <a16:creationId xmlns:a16="http://schemas.microsoft.com/office/drawing/2014/main" id="{78087010-E9A6-EC79-1177-B913F61C1B62}"/>
                </a:ext>
              </a:extLst>
            </p:cNvPr>
            <p:cNvSpPr/>
            <p:nvPr/>
          </p:nvSpPr>
          <p:spPr>
            <a:xfrm>
              <a:off x="9928761" y="2365096"/>
              <a:ext cx="558140" cy="207736"/>
            </a:xfrm>
            <a:prstGeom prst="downArrow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Freccia giù 11">
              <a:extLst>
                <a:ext uri="{FF2B5EF4-FFF2-40B4-BE49-F238E27FC236}">
                  <a16:creationId xmlns:a16="http://schemas.microsoft.com/office/drawing/2014/main" id="{9F40391D-C0A3-6640-3E81-083FCF0C32EF}"/>
                </a:ext>
              </a:extLst>
            </p:cNvPr>
            <p:cNvSpPr/>
            <p:nvPr/>
          </p:nvSpPr>
          <p:spPr>
            <a:xfrm>
              <a:off x="9926786" y="3313146"/>
              <a:ext cx="558140" cy="207736"/>
            </a:xfrm>
            <a:prstGeom prst="downArrow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Freccia giù 12">
              <a:extLst>
                <a:ext uri="{FF2B5EF4-FFF2-40B4-BE49-F238E27FC236}">
                  <a16:creationId xmlns:a16="http://schemas.microsoft.com/office/drawing/2014/main" id="{4834A100-90D0-1B8E-3D07-8596187D14CA}"/>
                </a:ext>
              </a:extLst>
            </p:cNvPr>
            <p:cNvSpPr/>
            <p:nvPr/>
          </p:nvSpPr>
          <p:spPr>
            <a:xfrm>
              <a:off x="9936686" y="4261188"/>
              <a:ext cx="558140" cy="207736"/>
            </a:xfrm>
            <a:prstGeom prst="downArrow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" name="Freccia giù 13">
              <a:extLst>
                <a:ext uri="{FF2B5EF4-FFF2-40B4-BE49-F238E27FC236}">
                  <a16:creationId xmlns:a16="http://schemas.microsoft.com/office/drawing/2014/main" id="{0D972E5E-6322-5373-53F0-6BA67826443B}"/>
                </a:ext>
              </a:extLst>
            </p:cNvPr>
            <p:cNvSpPr/>
            <p:nvPr/>
          </p:nvSpPr>
          <p:spPr>
            <a:xfrm>
              <a:off x="9934711" y="5221113"/>
              <a:ext cx="558140" cy="207736"/>
            </a:xfrm>
            <a:prstGeom prst="downArrow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CB81349-6908-9A32-92A8-7F2025C49FA4}"/>
              </a:ext>
            </a:extLst>
          </p:cNvPr>
          <p:cNvSpPr txBox="1"/>
          <p:nvPr/>
        </p:nvSpPr>
        <p:spPr>
          <a:xfrm>
            <a:off x="838199" y="6077376"/>
            <a:ext cx="53642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Giacomo Lancellotti, Francesco Rosnati, Leonardo Ignazio Pagliochini, and Giovanni Agosta, </a:t>
            </a:r>
          </a:p>
          <a:p>
            <a:r>
              <a:rPr lang="it-IT" sz="1000" b="1" dirty="0"/>
              <a:t>’Quantum Circuit </a:t>
            </a:r>
            <a:r>
              <a:rPr lang="it-IT" sz="1000" b="1" dirty="0" err="1"/>
              <a:t>Synthesis</a:t>
            </a:r>
            <a:r>
              <a:rPr lang="it-IT" sz="1000" b="1" dirty="0"/>
              <a:t> from C via Multi-Level Intermediate </a:t>
            </a:r>
            <a:r>
              <a:rPr lang="it-IT" sz="1000" b="1" dirty="0" err="1"/>
              <a:t>Representation</a:t>
            </a:r>
            <a:r>
              <a:rPr lang="it-IT" sz="1000" b="1" dirty="0"/>
              <a:t>’</a:t>
            </a:r>
          </a:p>
          <a:p>
            <a:r>
              <a:rPr lang="it-IT" sz="1000" dirty="0"/>
              <a:t>SAC 2026, </a:t>
            </a:r>
            <a:r>
              <a:rPr lang="it-IT" sz="1000" dirty="0" err="1"/>
              <a:t>Thessaloniki</a:t>
            </a:r>
            <a:r>
              <a:rPr lang="it-IT" sz="1000" dirty="0"/>
              <a:t>, Greece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38439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EEF859-6CF2-7230-87F5-FEDE6CFBB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Multi-Level Intermediate </a:t>
            </a:r>
            <a:r>
              <a:rPr lang="it-IT" dirty="0" err="1"/>
              <a:t>Representation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885303-ADFB-F666-E36C-ECF1017CD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2117"/>
            <a:ext cx="5348844" cy="4153766"/>
          </a:xfrm>
        </p:spPr>
        <p:txBody>
          <a:bodyPr/>
          <a:lstStyle/>
          <a:p>
            <a:pPr marL="0" indent="0">
              <a:buNone/>
            </a:pPr>
            <a:endParaRPr lang="it-IT" dirty="0"/>
          </a:p>
          <a:p>
            <a:r>
              <a:rPr lang="it-IT" dirty="0"/>
              <a:t>Domain </a:t>
            </a:r>
            <a:r>
              <a:rPr lang="it-IT" dirty="0" err="1"/>
              <a:t>specific</a:t>
            </a:r>
            <a:r>
              <a:rPr lang="it-IT" dirty="0"/>
              <a:t> </a:t>
            </a:r>
            <a:r>
              <a:rPr lang="it-IT" dirty="0" err="1"/>
              <a:t>language</a:t>
            </a:r>
            <a:r>
              <a:rPr lang="it-IT" dirty="0"/>
              <a:t> </a:t>
            </a:r>
            <a:r>
              <a:rPr lang="it-IT" dirty="0" err="1"/>
              <a:t>issue</a:t>
            </a:r>
            <a:endParaRPr lang="it-IT" dirty="0"/>
          </a:p>
          <a:p>
            <a:r>
              <a:rPr lang="it-IT" dirty="0"/>
              <a:t>Multiple </a:t>
            </a:r>
            <a:r>
              <a:rPr lang="it-IT" b="1" dirty="0" err="1"/>
              <a:t>abstraction</a:t>
            </a:r>
            <a:r>
              <a:rPr lang="it-IT" b="1" dirty="0"/>
              <a:t> </a:t>
            </a:r>
            <a:r>
              <a:rPr lang="it-IT" b="1" dirty="0" err="1"/>
              <a:t>layers</a:t>
            </a:r>
            <a:r>
              <a:rPr lang="it-IT" dirty="0"/>
              <a:t>, </a:t>
            </a:r>
            <a:r>
              <a:rPr lang="it-IT" dirty="0" err="1"/>
              <a:t>each</a:t>
            </a:r>
            <a:r>
              <a:rPr lang="it-IT" dirty="0"/>
              <a:t> with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 Intermediate </a:t>
            </a:r>
            <a:r>
              <a:rPr lang="it-IT" dirty="0" err="1"/>
              <a:t>Representation</a:t>
            </a:r>
            <a:r>
              <a:rPr lang="it-IT" dirty="0"/>
              <a:t> and </a:t>
            </a:r>
            <a:r>
              <a:rPr lang="it-IT" dirty="0" err="1"/>
              <a:t>optimizations</a:t>
            </a:r>
            <a:endParaRPr lang="it-IT" dirty="0"/>
          </a:p>
          <a:p>
            <a:r>
              <a:rPr lang="it-IT" b="1" dirty="0"/>
              <a:t>Progressive </a:t>
            </a:r>
            <a:r>
              <a:rPr lang="it-IT" b="1" dirty="0" err="1"/>
              <a:t>lowering</a:t>
            </a:r>
            <a:r>
              <a:rPr lang="it-IT" b="1" dirty="0"/>
              <a:t> </a:t>
            </a:r>
            <a:r>
              <a:rPr lang="it-IT" dirty="0" err="1"/>
              <a:t>principle</a:t>
            </a:r>
            <a:endParaRPr lang="it-IT" dirty="0"/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  <p:pic>
        <p:nvPicPr>
          <p:cNvPr id="2054" name="Picture 6" descr="My team (MLIR team at Google in Mountain View) is hiring! We are  specifically looking for a &quot;Sparse Compiler Engineer&quot;, possibly the first  time such a job description has been posted! Drop">
            <a:extLst>
              <a:ext uri="{FF2B5EF4-FFF2-40B4-BE49-F238E27FC236}">
                <a16:creationId xmlns:a16="http://schemas.microsoft.com/office/drawing/2014/main" id="{FB9DBF9E-D88E-DE4D-92E1-ACC29F273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34" y="4571109"/>
            <a:ext cx="3578760" cy="1431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Overview Image">
            <a:extLst>
              <a:ext uri="{FF2B5EF4-FFF2-40B4-BE49-F238E27FC236}">
                <a16:creationId xmlns:a16="http://schemas.microsoft.com/office/drawing/2014/main" id="{C2CAFAA1-6685-5DB0-6921-21DFDB49C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90688"/>
            <a:ext cx="6000998" cy="452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A56D5606-7DD3-0F94-AB24-E06049D52211}"/>
              </a:ext>
            </a:extLst>
          </p:cNvPr>
          <p:cNvSpPr txBox="1"/>
          <p:nvPr/>
        </p:nvSpPr>
        <p:spPr>
          <a:xfrm>
            <a:off x="7977311" y="6323598"/>
            <a:ext cx="38514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/>
              <a:t>Source: https://</a:t>
            </a:r>
            <a:r>
              <a:rPr lang="it-IT" sz="1600" dirty="0" err="1"/>
              <a:t>xdsl.dev</a:t>
            </a:r>
            <a:r>
              <a:rPr lang="it-IT" sz="1600" dirty="0"/>
              <a:t>/</a:t>
            </a:r>
            <a:r>
              <a:rPr lang="it-IT" sz="1600" dirty="0" err="1"/>
              <a:t>about</a:t>
            </a:r>
            <a:r>
              <a:rPr lang="it-IT" sz="1600" dirty="0"/>
              <a:t>/challenge/</a:t>
            </a:r>
          </a:p>
        </p:txBody>
      </p:sp>
    </p:spTree>
    <p:extLst>
      <p:ext uri="{BB962C8B-B14F-4D97-AF65-F5344CB8AC3E}">
        <p14:creationId xmlns:p14="http://schemas.microsoft.com/office/powerpoint/2010/main" val="4138064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B3BA95-62B3-68CC-2542-EAD1299B5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Quantum </a:t>
            </a:r>
            <a:r>
              <a:rPr lang="it-IT" dirty="0" err="1"/>
              <a:t>Aware</a:t>
            </a:r>
            <a:r>
              <a:rPr lang="it-IT" dirty="0"/>
              <a:t> </a:t>
            </a:r>
            <a:r>
              <a:rPr lang="it-IT" dirty="0" err="1"/>
              <a:t>Representation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297261-B0AF-68B2-D720-EDCC80628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6504" cy="3209513"/>
          </a:xfrm>
        </p:spPr>
        <p:txBody>
          <a:bodyPr>
            <a:normAutofit/>
          </a:bodyPr>
          <a:lstStyle/>
          <a:p>
            <a:r>
              <a:rPr lang="it-IT" b="1" dirty="0" err="1"/>
              <a:t>Compliant</a:t>
            </a:r>
            <a:r>
              <a:rPr lang="it-IT" dirty="0"/>
              <a:t> with </a:t>
            </a:r>
            <a:r>
              <a:rPr lang="it-IT" b="1" dirty="0"/>
              <a:t>quantum </a:t>
            </a:r>
            <a:r>
              <a:rPr lang="it-IT" b="1" dirty="0" err="1"/>
              <a:t>constraints</a:t>
            </a:r>
            <a:r>
              <a:rPr lang="it-IT" dirty="0"/>
              <a:t> (e.g., no </a:t>
            </a:r>
            <a:r>
              <a:rPr lang="it-IT" dirty="0" err="1"/>
              <a:t>variable</a:t>
            </a:r>
            <a:r>
              <a:rPr lang="it-IT" dirty="0"/>
              <a:t> </a:t>
            </a:r>
            <a:r>
              <a:rPr lang="it-IT" dirty="0" err="1"/>
              <a:t>overwrites</a:t>
            </a:r>
            <a:r>
              <a:rPr lang="it-IT" dirty="0"/>
              <a:t>)</a:t>
            </a:r>
          </a:p>
          <a:p>
            <a:r>
              <a:rPr lang="it-IT" b="1" dirty="0"/>
              <a:t>SSA</a:t>
            </a:r>
            <a:r>
              <a:rPr lang="it-IT" dirty="0"/>
              <a:t>-</a:t>
            </a:r>
            <a:r>
              <a:rPr lang="it-IT" dirty="0" err="1"/>
              <a:t>based</a:t>
            </a:r>
            <a:endParaRPr lang="it-IT" dirty="0"/>
          </a:p>
          <a:p>
            <a:r>
              <a:rPr lang="it-IT" dirty="0" err="1"/>
              <a:t>Opaque</a:t>
            </a:r>
            <a:r>
              <a:rPr lang="it-IT" dirty="0"/>
              <a:t> </a:t>
            </a:r>
            <a:r>
              <a:rPr lang="it-IT" dirty="0" err="1"/>
              <a:t>registers</a:t>
            </a:r>
            <a:r>
              <a:rPr lang="it-IT" dirty="0"/>
              <a:t> and </a:t>
            </a:r>
            <a:r>
              <a:rPr lang="it-IT" dirty="0" err="1"/>
              <a:t>operation</a:t>
            </a:r>
            <a:r>
              <a:rPr lang="it-IT" dirty="0"/>
              <a:t> </a:t>
            </a:r>
            <a:r>
              <a:rPr lang="it-IT" dirty="0" err="1"/>
              <a:t>definitions</a:t>
            </a:r>
            <a:endParaRPr lang="it-IT" dirty="0"/>
          </a:p>
          <a:p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7A42BC9-DF16-819B-68CE-FDC3B5CE1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419" y="1508230"/>
            <a:ext cx="3442621" cy="2674582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40DCBC3A-07D5-D1C1-9476-390183475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419" y="4182812"/>
            <a:ext cx="4210660" cy="267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661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96457A-1CD8-3BBA-5A70-F63A749BF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Quantum </a:t>
            </a:r>
            <a:r>
              <a:rPr lang="it-IT" dirty="0" err="1"/>
              <a:t>Representation</a:t>
            </a:r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3307D4F-C129-6AB1-5749-C246BE1A7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403" y="1472867"/>
            <a:ext cx="4232891" cy="268870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13366152-F89A-038A-EAA7-FFE591FFE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403" y="3943749"/>
            <a:ext cx="3767066" cy="2827135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7DACB4E-D53C-37A2-9FEC-7418468F3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161767" cy="4351338"/>
          </a:xfrm>
        </p:spPr>
        <p:txBody>
          <a:bodyPr>
            <a:normAutofit/>
          </a:bodyPr>
          <a:lstStyle/>
          <a:p>
            <a:r>
              <a:rPr lang="it-IT" dirty="0"/>
              <a:t>QAR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lowered</a:t>
            </a:r>
            <a:r>
              <a:rPr lang="it-IT" dirty="0"/>
              <a:t> to a </a:t>
            </a:r>
            <a:r>
              <a:rPr lang="it-IT" b="1" dirty="0"/>
              <a:t>quantum </a:t>
            </a:r>
            <a:r>
              <a:rPr lang="it-IT" dirty="0" err="1"/>
              <a:t>specifc</a:t>
            </a:r>
            <a:r>
              <a:rPr lang="it-IT" dirty="0"/>
              <a:t> </a:t>
            </a:r>
            <a:r>
              <a:rPr lang="it-IT" b="1" dirty="0" err="1"/>
              <a:t>dialect</a:t>
            </a:r>
            <a:r>
              <a:rPr lang="it-IT" dirty="0"/>
              <a:t> </a:t>
            </a:r>
          </a:p>
          <a:p>
            <a:r>
              <a:rPr lang="it-IT" dirty="0"/>
              <a:t>Still </a:t>
            </a:r>
            <a:r>
              <a:rPr lang="it-IT" b="1" dirty="0"/>
              <a:t>SSA</a:t>
            </a:r>
            <a:r>
              <a:rPr lang="it-IT" dirty="0"/>
              <a:t> </a:t>
            </a:r>
          </a:p>
          <a:p>
            <a:r>
              <a:rPr lang="it-IT" dirty="0" err="1"/>
              <a:t>Registers</a:t>
            </a:r>
            <a:r>
              <a:rPr lang="it-IT" dirty="0"/>
              <a:t> and </a:t>
            </a:r>
            <a:r>
              <a:rPr lang="it-IT" dirty="0" err="1"/>
              <a:t>operations</a:t>
            </a:r>
            <a:r>
              <a:rPr lang="it-IT" dirty="0"/>
              <a:t> are </a:t>
            </a:r>
            <a:r>
              <a:rPr lang="it-IT" dirty="0" err="1"/>
              <a:t>mapped</a:t>
            </a:r>
            <a:r>
              <a:rPr lang="it-IT" dirty="0"/>
              <a:t> to </a:t>
            </a:r>
            <a:r>
              <a:rPr lang="it-IT" b="1" dirty="0" err="1"/>
              <a:t>qubits</a:t>
            </a:r>
            <a:r>
              <a:rPr lang="it-IT" dirty="0"/>
              <a:t> and </a:t>
            </a:r>
            <a:r>
              <a:rPr lang="it-IT" b="1" dirty="0"/>
              <a:t>quantum </a:t>
            </a:r>
            <a:r>
              <a:rPr lang="it-IT" b="1" dirty="0" err="1"/>
              <a:t>operations</a:t>
            </a:r>
            <a:endParaRPr lang="it-IT" b="1" dirty="0"/>
          </a:p>
          <a:p>
            <a:r>
              <a:rPr lang="it-IT" dirty="0" err="1"/>
              <a:t>Final</a:t>
            </a:r>
            <a:r>
              <a:rPr lang="it-IT" dirty="0"/>
              <a:t> </a:t>
            </a:r>
            <a:r>
              <a:rPr lang="it-IT" dirty="0" err="1"/>
              <a:t>lowering</a:t>
            </a:r>
            <a:r>
              <a:rPr lang="it-IT" dirty="0"/>
              <a:t> to </a:t>
            </a:r>
            <a:r>
              <a:rPr lang="it-IT" b="1" dirty="0"/>
              <a:t>QASM (NP-Hard)</a:t>
            </a:r>
          </a:p>
        </p:txBody>
      </p:sp>
    </p:spTree>
    <p:extLst>
      <p:ext uri="{BB962C8B-B14F-4D97-AF65-F5344CB8AC3E}">
        <p14:creationId xmlns:p14="http://schemas.microsoft.com/office/powerpoint/2010/main" val="1789439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6251B0B1-7251-A120-7E11-9BDC81C8BF95}"/>
              </a:ext>
            </a:extLst>
          </p:cNvPr>
          <p:cNvSpPr/>
          <p:nvPr/>
        </p:nvSpPr>
        <p:spPr>
          <a:xfrm>
            <a:off x="10522857" y="3461553"/>
            <a:ext cx="290286" cy="14941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069ADAD-D6A7-6FC2-75DE-291B7F92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QuantumC</a:t>
            </a:r>
            <a:r>
              <a:rPr lang="it-IT" dirty="0"/>
              <a:t> Extension</a:t>
            </a:r>
          </a:p>
        </p:txBody>
      </p:sp>
      <p:sp>
        <p:nvSpPr>
          <p:cNvPr id="8" name="Freccia giù 7">
            <a:extLst>
              <a:ext uri="{FF2B5EF4-FFF2-40B4-BE49-F238E27FC236}">
                <a16:creationId xmlns:a16="http://schemas.microsoft.com/office/drawing/2014/main" id="{95AC6966-4FF5-BD41-15B9-B53D33C17851}"/>
              </a:ext>
            </a:extLst>
          </p:cNvPr>
          <p:cNvSpPr>
            <a:spLocks/>
          </p:cNvSpPr>
          <p:nvPr/>
        </p:nvSpPr>
        <p:spPr>
          <a:xfrm rot="5400000">
            <a:off x="9834225" y="4298930"/>
            <a:ext cx="558140" cy="1399696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05A282CE-9F7A-D6F7-2E82-30C64EF4BD7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Native support for </a:t>
            </a:r>
            <a:r>
              <a:rPr lang="en-US" b="1" dirty="0"/>
              <a:t>vector and matrix</a:t>
            </a:r>
            <a:r>
              <a:rPr lang="en-US" dirty="0"/>
              <a:t> operations</a:t>
            </a:r>
          </a:p>
          <a:p>
            <a:r>
              <a:rPr lang="it-IT" dirty="0" err="1"/>
              <a:t>Maintain</a:t>
            </a:r>
            <a:r>
              <a:rPr lang="it-IT" dirty="0"/>
              <a:t> </a:t>
            </a:r>
            <a:r>
              <a:rPr lang="it-IT" b="1" dirty="0"/>
              <a:t>high-</a:t>
            </a:r>
            <a:r>
              <a:rPr lang="it-IT" b="1" dirty="0" err="1"/>
              <a:t>level</a:t>
            </a:r>
            <a:r>
              <a:rPr lang="it-IT" b="1" dirty="0"/>
              <a:t> semantic information</a:t>
            </a:r>
            <a:r>
              <a:rPr lang="it-IT" dirty="0"/>
              <a:t> of linear algebra kernels</a:t>
            </a:r>
          </a:p>
          <a:p>
            <a:r>
              <a:rPr lang="en-US" b="1" dirty="0"/>
              <a:t>Two arithmetic </a:t>
            </a:r>
            <a:r>
              <a:rPr lang="en-US" dirty="0"/>
              <a:t>backends:</a:t>
            </a:r>
          </a:p>
          <a:p>
            <a:pPr lvl="1"/>
            <a:r>
              <a:rPr lang="en-US" dirty="0"/>
              <a:t>Ripple carry</a:t>
            </a:r>
          </a:p>
          <a:p>
            <a:pPr lvl="1"/>
            <a:r>
              <a:rPr lang="en-US" dirty="0"/>
              <a:t>QFT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CB0AC06A-836A-0F96-0B77-82AC40070211}"/>
              </a:ext>
            </a:extLst>
          </p:cNvPr>
          <p:cNvSpPr>
            <a:spLocks/>
          </p:cNvSpPr>
          <p:nvPr/>
        </p:nvSpPr>
        <p:spPr>
          <a:xfrm>
            <a:off x="7058170" y="855210"/>
            <a:ext cx="2291938" cy="61751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ysClr val="windowText" lastClr="000000"/>
                </a:solidFill>
              </a:rPr>
              <a:t>C-source</a:t>
            </a:r>
            <a:endParaRPr lang="it-IT" dirty="0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17CC3F75-ED48-62A9-7249-46600ABF6133}"/>
              </a:ext>
            </a:extLst>
          </p:cNvPr>
          <p:cNvSpPr>
            <a:spLocks/>
          </p:cNvSpPr>
          <p:nvPr/>
        </p:nvSpPr>
        <p:spPr>
          <a:xfrm>
            <a:off x="6994831" y="1821185"/>
            <a:ext cx="2291938" cy="61751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ysClr val="windowText" lastClr="000000"/>
                </a:solidFill>
              </a:rPr>
              <a:t>AST </a:t>
            </a:r>
            <a:r>
              <a:rPr lang="it-IT" dirty="0" err="1">
                <a:solidFill>
                  <a:sysClr val="windowText" lastClr="000000"/>
                </a:solidFill>
              </a:rPr>
              <a:t>construction</a:t>
            </a:r>
            <a:endParaRPr lang="it-IT" dirty="0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EB5CE9CE-5CDA-5481-BC14-5AC89AA713E9}"/>
              </a:ext>
            </a:extLst>
          </p:cNvPr>
          <p:cNvSpPr>
            <a:spLocks/>
          </p:cNvSpPr>
          <p:nvPr/>
        </p:nvSpPr>
        <p:spPr>
          <a:xfrm>
            <a:off x="7060145" y="3720934"/>
            <a:ext cx="2291938" cy="61751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ysClr val="windowText" lastClr="000000"/>
                </a:solidFill>
              </a:rPr>
              <a:t>Quantum </a:t>
            </a:r>
            <a:r>
              <a:rPr lang="it-IT" dirty="0" err="1">
                <a:solidFill>
                  <a:sysClr val="windowText" lastClr="000000"/>
                </a:solidFill>
              </a:rPr>
              <a:t>Aware</a:t>
            </a:r>
            <a:r>
              <a:rPr lang="it-IT" dirty="0">
                <a:solidFill>
                  <a:sysClr val="windowText" lastClr="000000"/>
                </a:solidFill>
              </a:rPr>
              <a:t> IR</a:t>
            </a:r>
            <a:endParaRPr lang="it-IT" dirty="0"/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E0CFF7B0-1B61-9F9E-40AF-63E450250AC8}"/>
              </a:ext>
            </a:extLst>
          </p:cNvPr>
          <p:cNvSpPr>
            <a:spLocks/>
          </p:cNvSpPr>
          <p:nvPr/>
        </p:nvSpPr>
        <p:spPr>
          <a:xfrm>
            <a:off x="7060145" y="4686909"/>
            <a:ext cx="2291938" cy="61751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ysClr val="windowText" lastClr="000000"/>
                </a:solidFill>
              </a:rPr>
              <a:t>Quantum IR</a:t>
            </a:r>
            <a:endParaRPr lang="it-IT" dirty="0"/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FE09351F-1DBE-EB8B-2E4F-7E61191A199D}"/>
              </a:ext>
            </a:extLst>
          </p:cNvPr>
          <p:cNvSpPr>
            <a:spLocks/>
          </p:cNvSpPr>
          <p:nvPr/>
        </p:nvSpPr>
        <p:spPr>
          <a:xfrm>
            <a:off x="7060145" y="5635249"/>
            <a:ext cx="2291938" cy="61751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ysClr val="windowText" lastClr="000000"/>
                </a:solidFill>
              </a:rPr>
              <a:t>QASM </a:t>
            </a:r>
            <a:r>
              <a:rPr lang="it-IT" dirty="0" err="1">
                <a:solidFill>
                  <a:sysClr val="windowText" lastClr="000000"/>
                </a:solidFill>
              </a:rPr>
              <a:t>circuit</a:t>
            </a:r>
            <a:endParaRPr lang="it-IT" dirty="0"/>
          </a:p>
        </p:txBody>
      </p:sp>
      <p:sp>
        <p:nvSpPr>
          <p:cNvPr id="16" name="Freccia giù 15">
            <a:extLst>
              <a:ext uri="{FF2B5EF4-FFF2-40B4-BE49-F238E27FC236}">
                <a16:creationId xmlns:a16="http://schemas.microsoft.com/office/drawing/2014/main" id="{B8B69B61-273D-790E-950C-BB2144CCD6B0}"/>
              </a:ext>
            </a:extLst>
          </p:cNvPr>
          <p:cNvSpPr>
            <a:spLocks/>
          </p:cNvSpPr>
          <p:nvPr/>
        </p:nvSpPr>
        <p:spPr>
          <a:xfrm>
            <a:off x="7927044" y="2513503"/>
            <a:ext cx="558140" cy="207736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Freccia giù 16">
            <a:extLst>
              <a:ext uri="{FF2B5EF4-FFF2-40B4-BE49-F238E27FC236}">
                <a16:creationId xmlns:a16="http://schemas.microsoft.com/office/drawing/2014/main" id="{38178206-B236-EBBE-596A-C99A5AE5BEC3}"/>
              </a:ext>
            </a:extLst>
          </p:cNvPr>
          <p:cNvSpPr>
            <a:spLocks/>
          </p:cNvSpPr>
          <p:nvPr/>
        </p:nvSpPr>
        <p:spPr>
          <a:xfrm>
            <a:off x="7925069" y="3461553"/>
            <a:ext cx="558140" cy="207736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Freccia giù 17">
            <a:extLst>
              <a:ext uri="{FF2B5EF4-FFF2-40B4-BE49-F238E27FC236}">
                <a16:creationId xmlns:a16="http://schemas.microsoft.com/office/drawing/2014/main" id="{9A5183D3-2089-A2ED-5C77-520CA6DDBF66}"/>
              </a:ext>
            </a:extLst>
          </p:cNvPr>
          <p:cNvSpPr>
            <a:spLocks/>
          </p:cNvSpPr>
          <p:nvPr/>
        </p:nvSpPr>
        <p:spPr>
          <a:xfrm>
            <a:off x="7934969" y="4409595"/>
            <a:ext cx="558140" cy="207736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Freccia giù 18">
            <a:extLst>
              <a:ext uri="{FF2B5EF4-FFF2-40B4-BE49-F238E27FC236}">
                <a16:creationId xmlns:a16="http://schemas.microsoft.com/office/drawing/2014/main" id="{C111AB60-40A8-B4A1-111D-D4D74EB4C237}"/>
              </a:ext>
            </a:extLst>
          </p:cNvPr>
          <p:cNvSpPr>
            <a:spLocks/>
          </p:cNvSpPr>
          <p:nvPr/>
        </p:nvSpPr>
        <p:spPr>
          <a:xfrm>
            <a:off x="7932994" y="5369520"/>
            <a:ext cx="558140" cy="207736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E30E1446-13CA-E27C-9F57-279851E27621}"/>
              </a:ext>
            </a:extLst>
          </p:cNvPr>
          <p:cNvSpPr>
            <a:spLocks/>
          </p:cNvSpPr>
          <p:nvPr/>
        </p:nvSpPr>
        <p:spPr>
          <a:xfrm>
            <a:off x="9621183" y="2762111"/>
            <a:ext cx="2291938" cy="61751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ysClr val="windowText" lastClr="000000"/>
                </a:solidFill>
              </a:rPr>
              <a:t>VecMat</a:t>
            </a:r>
            <a:r>
              <a:rPr lang="it-IT" dirty="0">
                <a:solidFill>
                  <a:sysClr val="windowText" lastClr="000000"/>
                </a:solidFill>
              </a:rPr>
              <a:t> IR</a:t>
            </a:r>
            <a:endParaRPr lang="it-IT" dirty="0"/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C59DF7C6-19ED-93DE-863D-9B15A8707B1A}"/>
              </a:ext>
            </a:extLst>
          </p:cNvPr>
          <p:cNvSpPr>
            <a:spLocks/>
          </p:cNvSpPr>
          <p:nvPr/>
        </p:nvSpPr>
        <p:spPr>
          <a:xfrm>
            <a:off x="6994831" y="2762112"/>
            <a:ext cx="2291938" cy="61751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ysClr val="windowText" lastClr="000000"/>
                </a:solidFill>
              </a:rPr>
              <a:t>Pattern </a:t>
            </a:r>
            <a:r>
              <a:rPr lang="it-IT" dirty="0" err="1">
                <a:solidFill>
                  <a:sysClr val="windowText" lastClr="000000"/>
                </a:solidFill>
              </a:rPr>
              <a:t>Recognition</a:t>
            </a:r>
            <a:endParaRPr lang="it-IT" dirty="0"/>
          </a:p>
        </p:txBody>
      </p:sp>
      <p:sp>
        <p:nvSpPr>
          <p:cNvPr id="23" name="Freccia giù 22">
            <a:extLst>
              <a:ext uri="{FF2B5EF4-FFF2-40B4-BE49-F238E27FC236}">
                <a16:creationId xmlns:a16="http://schemas.microsoft.com/office/drawing/2014/main" id="{B02099E6-1A48-7639-D2F6-33F7607F15F5}"/>
              </a:ext>
            </a:extLst>
          </p:cNvPr>
          <p:cNvSpPr>
            <a:spLocks/>
          </p:cNvSpPr>
          <p:nvPr/>
        </p:nvSpPr>
        <p:spPr>
          <a:xfrm>
            <a:off x="7925069" y="1571333"/>
            <a:ext cx="558140" cy="207736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Freccia giù 23">
            <a:extLst>
              <a:ext uri="{FF2B5EF4-FFF2-40B4-BE49-F238E27FC236}">
                <a16:creationId xmlns:a16="http://schemas.microsoft.com/office/drawing/2014/main" id="{C5215499-0785-6155-1921-BAA7B33223C7}"/>
              </a:ext>
            </a:extLst>
          </p:cNvPr>
          <p:cNvSpPr>
            <a:spLocks/>
          </p:cNvSpPr>
          <p:nvPr/>
        </p:nvSpPr>
        <p:spPr>
          <a:xfrm rot="16200000">
            <a:off x="9174906" y="3003749"/>
            <a:ext cx="558140" cy="207736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6196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C4860C-F38C-AC80-7DB9-5F288A56F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Linear Algebra Kernels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A6A45C-D51F-A501-529F-F92D7403F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dirty="0"/>
              <a:t>Three kernels supported:</a:t>
            </a:r>
          </a:p>
          <a:p>
            <a:pPr lvl="1"/>
            <a:r>
              <a:rPr lang="en-US" b="1" dirty="0"/>
              <a:t>Vector addition</a:t>
            </a:r>
          </a:p>
          <a:p>
            <a:pPr lvl="1"/>
            <a:r>
              <a:rPr lang="en-US" b="1" dirty="0"/>
              <a:t>Dot product</a:t>
            </a:r>
          </a:p>
          <a:p>
            <a:pPr lvl="1"/>
            <a:r>
              <a:rPr lang="en-US" b="1" dirty="0"/>
              <a:t>Matrix multiplication</a:t>
            </a:r>
          </a:p>
          <a:p>
            <a:r>
              <a:rPr lang="en-US" b="1" dirty="0"/>
              <a:t>Pattern recognition</a:t>
            </a:r>
            <a:r>
              <a:rPr lang="en-US" dirty="0"/>
              <a:t> via </a:t>
            </a:r>
            <a:r>
              <a:rPr lang="en-US" b="1" dirty="0"/>
              <a:t>AST traversal</a:t>
            </a:r>
            <a:r>
              <a:rPr lang="en-US" dirty="0"/>
              <a:t> of canonical loop forms</a:t>
            </a:r>
          </a:p>
          <a:p>
            <a:r>
              <a:rPr lang="it-IT" dirty="0" err="1"/>
              <a:t>Lightweight</a:t>
            </a:r>
            <a:r>
              <a:rPr lang="it-IT" dirty="0"/>
              <a:t> </a:t>
            </a:r>
            <a:r>
              <a:rPr lang="it-IT" dirty="0" err="1"/>
              <a:t>annotation</a:t>
            </a:r>
            <a:r>
              <a:rPr lang="it-IT" dirty="0"/>
              <a:t> </a:t>
            </a:r>
            <a:r>
              <a:rPr lang="it-IT" dirty="0" err="1"/>
              <a:t>layer</a:t>
            </a:r>
            <a:r>
              <a:rPr lang="it-IT" dirty="0"/>
              <a:t> for </a:t>
            </a:r>
            <a:r>
              <a:rPr lang="it-IT" b="1" dirty="0" err="1"/>
              <a:t>VecMat</a:t>
            </a:r>
            <a:r>
              <a:rPr lang="it-IT" b="1" dirty="0"/>
              <a:t> IR</a:t>
            </a:r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89F3CEB7-D814-DB06-06A6-EF33B3137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238" y="1935616"/>
            <a:ext cx="5523093" cy="1625008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550391E3-0DF2-EE40-0F6E-484CCBF55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716" y="4001294"/>
            <a:ext cx="5563377" cy="214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20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1CA991-8CCC-4ECD-B10E-16E675816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Compilation Flow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6AC1903-21C4-905A-D642-11FB74503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42" y="1519237"/>
            <a:ext cx="11599515" cy="3684673"/>
          </a:xfrm>
          <a:prstGeom prst="rect">
            <a:avLst/>
          </a:prstGeom>
        </p:spPr>
      </p:pic>
      <p:sp>
        <p:nvSpPr>
          <p:cNvPr id="10" name="CaptionTextBox"/>
          <p:cNvSpPr txBox="1"/>
          <p:nvPr/>
        </p:nvSpPr>
        <p:spPr>
          <a:xfrm>
            <a:off x="614916" y="5500000"/>
            <a:ext cx="11197856" cy="12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000" b="1" dirty="0"/>
              <a:t>Scalar path </a:t>
            </a:r>
            <a:r>
              <a:rPr lang="en-US" sz="2000" dirty="0"/>
              <a:t>(standard QuantumC) and </a:t>
            </a:r>
            <a:r>
              <a:rPr lang="en-US" sz="2000" b="1" dirty="0"/>
              <a:t>vector/matrix path </a:t>
            </a:r>
            <a:r>
              <a:rPr lang="en-US" sz="2000" dirty="0"/>
              <a:t>(VecMat IR) run in parallel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000" b="1" dirty="0"/>
              <a:t>Merge phase </a:t>
            </a:r>
            <a:r>
              <a:rPr lang="en-US" sz="2000" dirty="0"/>
              <a:t>combines the two modules via SSA-based register remapping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000" dirty="0"/>
              <a:t>Cross-path dependencies (e.g. </a:t>
            </a:r>
            <a:r>
              <a:rPr lang="en-US" sz="2000" i="1" dirty="0"/>
              <a:t>return z + c[0]</a:t>
            </a:r>
            <a:r>
              <a:rPr lang="en-US" sz="2000" dirty="0"/>
              <a:t>) resolved transparently to the user</a:t>
            </a:r>
          </a:p>
        </p:txBody>
      </p:sp>
    </p:spTree>
    <p:extLst>
      <p:ext uri="{BB962C8B-B14F-4D97-AF65-F5344CB8AC3E}">
        <p14:creationId xmlns:p14="http://schemas.microsoft.com/office/powerpoint/2010/main" val="2123269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8209FF-6C88-50D2-EB21-667A102DE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Sparsity</a:t>
            </a:r>
            <a:r>
              <a:rPr lang="it-IT" dirty="0"/>
              <a:t> </a:t>
            </a:r>
            <a:r>
              <a:rPr lang="it-IT" dirty="0" err="1"/>
              <a:t>Optimization</a:t>
            </a: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DC0B5FF7-6959-448D-BA55-9EEE276DE3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87740" y="1170341"/>
            <a:ext cx="4004260" cy="5155284"/>
          </a:xfrm>
          <a:prstGeom prst="rect">
            <a:avLst/>
          </a:prstGeom>
        </p:spPr>
      </p:pic>
      <p:sp>
        <p:nvSpPr>
          <p:cNvPr id="11" name="BodyContent"/>
          <p:cNvSpPr txBox="1"/>
          <p:nvPr/>
        </p:nvSpPr>
        <p:spPr>
          <a:xfrm>
            <a:off x="838200" y="1825625"/>
            <a:ext cx="5257800" cy="450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Real workloads often use </a:t>
            </a:r>
            <a:r>
              <a:rPr lang="en-US" sz="2800" b="1" dirty="0"/>
              <a:t>sparse matrices</a:t>
            </a:r>
            <a:r>
              <a:rPr lang="en-US" sz="2800" dirty="0"/>
              <a:t> (e.g. pruned NN weights, &gt;90% zeros)</a:t>
            </a:r>
          </a:p>
          <a:p>
            <a:pPr marL="22860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1" dirty="0"/>
              <a:t>Compile-time pass</a:t>
            </a:r>
            <a:r>
              <a:rPr lang="en-US" sz="2800" dirty="0"/>
              <a:t> on the VecMat IR before backend selection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Static analysis of </a:t>
            </a:r>
            <a:r>
              <a:rPr lang="en-US" sz="2800" b="1" dirty="0"/>
              <a:t>zero operands/under threshold</a:t>
            </a:r>
            <a:r>
              <a:rPr lang="en-US" sz="2800" dirty="0"/>
              <a:t> from C array initializers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5086D03-95FE-22D5-C53B-A1128EC74E2E}"/>
              </a:ext>
            </a:extLst>
          </p:cNvPr>
          <p:cNvSpPr txBox="1"/>
          <p:nvPr/>
        </p:nvSpPr>
        <p:spPr>
          <a:xfrm>
            <a:off x="6240781" y="3545146"/>
            <a:ext cx="22010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3×3 matrix multiplication </a:t>
            </a:r>
          </a:p>
          <a:p>
            <a:r>
              <a:rPr lang="en-US" b="1" dirty="0"/>
              <a:t>54 → 6</a:t>
            </a:r>
            <a:r>
              <a:rPr lang="en-US" dirty="0"/>
              <a:t> </a:t>
            </a:r>
            <a:r>
              <a:rPr lang="en-US" dirty="0" err="1"/>
              <a:t>mul</a:t>
            </a:r>
            <a:r>
              <a:rPr lang="en-US" dirty="0"/>
              <a:t>/add ops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79153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2CBD72-B6B5-CE90-883E-3F9B20826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Performance Evaluation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0DA12AE-A5F4-998B-314D-893DCB0D8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80320" cy="4351338"/>
          </a:xfrm>
        </p:spPr>
        <p:txBody>
          <a:bodyPr/>
          <a:lstStyle/>
          <a:p>
            <a:r>
              <a:rPr lang="it-IT" b="1" dirty="0"/>
              <a:t>Goal</a:t>
            </a:r>
            <a:r>
              <a:rPr lang="it-IT" dirty="0"/>
              <a:t>: </a:t>
            </a:r>
            <a:r>
              <a:rPr lang="it-IT" dirty="0" err="1"/>
              <a:t>characterize</a:t>
            </a:r>
            <a:r>
              <a:rPr lang="it-IT" dirty="0"/>
              <a:t> the connection </a:t>
            </a:r>
            <a:r>
              <a:rPr lang="it-IT" dirty="0" err="1"/>
              <a:t>between</a:t>
            </a:r>
            <a:r>
              <a:rPr lang="it-IT" dirty="0"/>
              <a:t> linear algebra kernels and quantum </a:t>
            </a:r>
            <a:r>
              <a:rPr lang="it-IT" dirty="0" err="1"/>
              <a:t>resources</a:t>
            </a:r>
            <a:endParaRPr lang="it-IT" dirty="0"/>
          </a:p>
          <a:p>
            <a:r>
              <a:rPr lang="it-IT" b="1" dirty="0" err="1"/>
              <a:t>Resources</a:t>
            </a:r>
            <a:r>
              <a:rPr lang="it-IT" b="1" dirty="0"/>
              <a:t>: </a:t>
            </a:r>
          </a:p>
          <a:p>
            <a:pPr lvl="1"/>
            <a:r>
              <a:rPr lang="it-IT" b="1" dirty="0" err="1"/>
              <a:t>Cliffor+T</a:t>
            </a:r>
            <a:r>
              <a:rPr lang="it-IT" b="1" dirty="0"/>
              <a:t> </a:t>
            </a:r>
            <a:r>
              <a:rPr lang="it-IT" dirty="0" err="1"/>
              <a:t>decomposition</a:t>
            </a:r>
            <a:r>
              <a:rPr lang="it-IT" dirty="0"/>
              <a:t> (𝜖 = 10</a:t>
            </a:r>
            <a:r>
              <a:rPr lang="it-IT" baseline="30000" dirty="0"/>
              <a:t>-15</a:t>
            </a:r>
            <a:r>
              <a:rPr lang="it-IT" dirty="0"/>
              <a:t> </a:t>
            </a:r>
            <a:r>
              <a:rPr lang="it-IT" dirty="0" err="1"/>
              <a:t>precision</a:t>
            </a:r>
            <a:r>
              <a:rPr lang="it-IT" dirty="0"/>
              <a:t>)</a:t>
            </a:r>
          </a:p>
          <a:p>
            <a:pPr lvl="1"/>
            <a:r>
              <a:rPr lang="it-IT" b="1" dirty="0" err="1"/>
              <a:t>Qubits</a:t>
            </a:r>
            <a:r>
              <a:rPr lang="it-IT" b="1" dirty="0"/>
              <a:t>, T-</a:t>
            </a:r>
            <a:r>
              <a:rPr lang="it-IT" b="1" dirty="0" err="1"/>
              <a:t>count</a:t>
            </a:r>
            <a:r>
              <a:rPr lang="it-IT" b="1" dirty="0"/>
              <a:t>, T-</a:t>
            </a:r>
            <a:r>
              <a:rPr lang="it-IT" b="1" dirty="0" err="1"/>
              <a:t>depth</a:t>
            </a:r>
            <a:endParaRPr lang="it-IT" b="1" dirty="0"/>
          </a:p>
          <a:p>
            <a:r>
              <a:rPr lang="it-IT" b="1" dirty="0" err="1"/>
              <a:t>Validation</a:t>
            </a:r>
            <a:r>
              <a:rPr lang="it-IT" dirty="0"/>
              <a:t>: </a:t>
            </a:r>
            <a:r>
              <a:rPr lang="it-IT" dirty="0" err="1"/>
              <a:t>simulation</a:t>
            </a:r>
            <a:r>
              <a:rPr lang="it-IT" dirty="0"/>
              <a:t> with </a:t>
            </a:r>
            <a:r>
              <a:rPr lang="it-IT" b="1" dirty="0" err="1"/>
              <a:t>Qiskit</a:t>
            </a:r>
            <a:r>
              <a:rPr lang="it-IT" dirty="0"/>
              <a:t> </a:t>
            </a:r>
            <a:r>
              <a:rPr lang="it-IT" dirty="0" err="1"/>
              <a:t>compared</a:t>
            </a:r>
            <a:r>
              <a:rPr lang="it-IT" dirty="0"/>
              <a:t> </a:t>
            </a:r>
            <a:r>
              <a:rPr lang="it-IT" dirty="0" err="1"/>
              <a:t>against</a:t>
            </a:r>
            <a:r>
              <a:rPr lang="it-IT" dirty="0"/>
              <a:t> </a:t>
            </a:r>
            <a:r>
              <a:rPr lang="it-IT" b="1" dirty="0"/>
              <a:t>C</a:t>
            </a:r>
            <a:r>
              <a:rPr lang="it-IT" dirty="0"/>
              <a:t> output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38982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656B70-2125-7B7A-372C-FADFB8772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Resource Analysis – </a:t>
            </a:r>
            <a:r>
              <a:rPr lang="it-IT" dirty="0" err="1"/>
              <a:t>Addition</a:t>
            </a:r>
            <a:endParaRPr lang="it-IT" dirty="0"/>
          </a:p>
        </p:txBody>
      </p:sp>
      <p:pic>
        <p:nvPicPr>
          <p:cNvPr id="6" name="Segnaposto contenuto 4">
            <a:extLst>
              <a:ext uri="{FF2B5EF4-FFF2-40B4-BE49-F238E27FC236}">
                <a16:creationId xmlns:a16="http://schemas.microsoft.com/office/drawing/2014/main" id="{7B758A53-8415-498E-C4B6-C6EE0AB3D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68" y="2113952"/>
            <a:ext cx="10947664" cy="2434833"/>
          </a:xfrm>
          <a:prstGeom prst="rect">
            <a:avLst/>
          </a:prstGeom>
        </p:spPr>
      </p:pic>
      <p:sp>
        <p:nvSpPr>
          <p:cNvPr id="20" name="Observations"/>
          <p:cNvSpPr txBox="1"/>
          <p:nvPr/>
        </p:nvSpPr>
        <p:spPr>
          <a:xfrm>
            <a:off x="838200" y="4972050"/>
            <a:ext cx="10515600" cy="162181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000" dirty="0"/>
              <a:t>Similar </a:t>
            </a:r>
            <a:r>
              <a:rPr lang="en-US" sz="2000" b="1" dirty="0"/>
              <a:t>qubit count </a:t>
            </a:r>
            <a:r>
              <a:rPr lang="en-US" sz="2000" dirty="0"/>
              <a:t>(Ripple-Carry +3% for carry ancilla)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000" dirty="0"/>
              <a:t>QFT </a:t>
            </a:r>
            <a:r>
              <a:rPr lang="en-US" sz="2000" b="1" dirty="0"/>
              <a:t>T-count ~3 orders higher </a:t>
            </a:r>
            <a:r>
              <a:rPr lang="en-US" sz="2000" dirty="0"/>
              <a:t>(due to arbitrary rotation gate approximation)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000" b="1" dirty="0"/>
              <a:t>T-depth flat in N </a:t>
            </a:r>
            <a:r>
              <a:rPr lang="en-US" sz="2000" dirty="0"/>
              <a:t>→ N independent additions execute in parallel</a:t>
            </a:r>
          </a:p>
        </p:txBody>
      </p:sp>
    </p:spTree>
    <p:extLst>
      <p:ext uri="{BB962C8B-B14F-4D97-AF65-F5344CB8AC3E}">
        <p14:creationId xmlns:p14="http://schemas.microsoft.com/office/powerpoint/2010/main" val="1533970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E3A9E-B348-39F6-B5D7-C9A65C7D7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06FB2E-111F-A9C4-0136-7B6EA0508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Resource Analysis – Dot Product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F348F180-EFA5-9F7E-FBDB-F760086CF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941" y="1959429"/>
            <a:ext cx="10910957" cy="2426669"/>
          </a:xfrm>
          <a:prstGeom prst="rect">
            <a:avLst/>
          </a:prstGeom>
        </p:spPr>
      </p:pic>
      <p:sp>
        <p:nvSpPr>
          <p:cNvPr id="20" name="Observations"/>
          <p:cNvSpPr txBox="1"/>
          <p:nvPr/>
        </p:nvSpPr>
        <p:spPr>
          <a:xfrm>
            <a:off x="838200" y="5012190"/>
            <a:ext cx="10515600" cy="12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000" dirty="0"/>
              <a:t>Ripple</a:t>
            </a:r>
            <a:r>
              <a:rPr lang="en-US" sz="2000" b="1" dirty="0"/>
              <a:t> </a:t>
            </a:r>
            <a:r>
              <a:rPr lang="en-US" sz="2000" dirty="0"/>
              <a:t>utilizes</a:t>
            </a:r>
            <a:r>
              <a:rPr lang="en-US" sz="2000" b="1" dirty="0"/>
              <a:t> more qubits </a:t>
            </a:r>
            <a:r>
              <a:rPr lang="en-US" sz="2000" dirty="0"/>
              <a:t>(add/</a:t>
            </a:r>
            <a:r>
              <a:rPr lang="en-US" sz="2000" dirty="0" err="1"/>
              <a:t>mul</a:t>
            </a:r>
            <a:r>
              <a:rPr lang="en-US" sz="2000" dirty="0"/>
              <a:t> ancilla) but ~10× </a:t>
            </a:r>
            <a:r>
              <a:rPr lang="en-US" sz="2000" b="1" dirty="0"/>
              <a:t>fewer T gates </a:t>
            </a:r>
            <a:r>
              <a:rPr lang="en-US" sz="2000" dirty="0"/>
              <a:t>than QFT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000" dirty="0"/>
              <a:t>N multiply–accumulate steps: introduces </a:t>
            </a:r>
            <a:r>
              <a:rPr lang="en-US" sz="2000" b="1" dirty="0"/>
              <a:t>sequential dependencies</a:t>
            </a:r>
            <a:endParaRPr lang="en-US" sz="20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000" dirty="0"/>
              <a:t>Ripple</a:t>
            </a:r>
            <a:r>
              <a:rPr lang="en-US" sz="2000" b="1" dirty="0"/>
              <a:t> T-depth ~10× higher</a:t>
            </a:r>
            <a:r>
              <a:rPr lang="en-US" sz="2000" dirty="0"/>
              <a:t> (long chains from multi-controlled NOT decomposition)</a:t>
            </a:r>
          </a:p>
        </p:txBody>
      </p:sp>
    </p:spTree>
    <p:extLst>
      <p:ext uri="{BB962C8B-B14F-4D97-AF65-F5344CB8AC3E}">
        <p14:creationId xmlns:p14="http://schemas.microsoft.com/office/powerpoint/2010/main" val="2526703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960CD-A2EB-753B-7BA9-9C122EC1A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3CF8BF-AE5A-18E1-FA57-748BAE76B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Resource Analysis – </a:t>
            </a:r>
            <a:r>
              <a:rPr lang="it-IT" dirty="0" err="1"/>
              <a:t>Multiplication</a:t>
            </a:r>
            <a:endParaRPr lang="it-IT" dirty="0"/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1E152B5E-622E-0749-D2F0-2EF061DC81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104" y="2043144"/>
            <a:ext cx="11057792" cy="2459326"/>
          </a:xfrm>
          <a:prstGeom prst="rect">
            <a:avLst/>
          </a:prstGeom>
        </p:spPr>
      </p:pic>
      <p:sp>
        <p:nvSpPr>
          <p:cNvPr id="20" name="Observations"/>
          <p:cNvSpPr txBox="1"/>
          <p:nvPr/>
        </p:nvSpPr>
        <p:spPr>
          <a:xfrm>
            <a:off x="838200" y="4846857"/>
            <a:ext cx="10515600" cy="12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000" b="1" dirty="0"/>
              <a:t>Highest resource consumption </a:t>
            </a:r>
            <a:r>
              <a:rPr lang="en-US" sz="2000" dirty="0"/>
              <a:t>across all metrics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000" dirty="0"/>
              <a:t>Same trade-off as dot product, </a:t>
            </a:r>
            <a:r>
              <a:rPr lang="en-US" sz="2000" b="1" dirty="0"/>
              <a:t>amplified by an extra dimension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000" b="1" dirty="0"/>
              <a:t>Backend choice </a:t>
            </a:r>
            <a:r>
              <a:rPr lang="en-US" sz="2000" dirty="0"/>
              <a:t>guided by target HW: QFT for NISQ (lower qubits/depth), Ripple-Carry for fault-tolerant (lower T-gate count)</a:t>
            </a:r>
          </a:p>
        </p:txBody>
      </p:sp>
    </p:spTree>
    <p:extLst>
      <p:ext uri="{BB962C8B-B14F-4D97-AF65-F5344CB8AC3E}">
        <p14:creationId xmlns:p14="http://schemas.microsoft.com/office/powerpoint/2010/main" val="278614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082059-78C6-FF45-CD61-4B14F3205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Sparsity Optimization Impact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E000A89A-CCE2-78EA-64DA-970C68F91D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4483"/>
            <a:ext cx="10515600" cy="2338739"/>
          </a:xfrm>
          <a:prstGeom prst="rect">
            <a:avLst/>
          </a:prstGeom>
        </p:spPr>
      </p:pic>
      <p:sp>
        <p:nvSpPr>
          <p:cNvPr id="20" name="Observations"/>
          <p:cNvSpPr txBox="1"/>
          <p:nvPr/>
        </p:nvSpPr>
        <p:spPr>
          <a:xfrm>
            <a:off x="838200" y="4600000"/>
            <a:ext cx="10515600" cy="21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en-US" b="1" dirty="0"/>
              <a:t>16×16 matrix multiplication, 8-bit integers, up to 90% sparsity</a:t>
            </a:r>
          </a:p>
          <a:p>
            <a:pPr algn="ctr"/>
            <a:endParaRPr lang="en-US" b="1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b="1" dirty="0"/>
              <a:t>Qubits: </a:t>
            </a:r>
            <a:r>
              <a:rPr lang="en-US" dirty="0"/>
              <a:t>−91% (QFT, 71.7K→6.8K), −97% (Ripple-Carry, 370.7K→9.5K)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b="1" dirty="0"/>
              <a:t>T-count: </a:t>
            </a:r>
            <a:r>
              <a:rPr lang="en-US" dirty="0"/>
              <a:t>−99% for both backends (QFT: 661M→6.1M; Ripple-Carry: 16.6M→154K)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b="1" dirty="0"/>
              <a:t>T-depth: </a:t>
            </a:r>
            <a:r>
              <a:rPr lang="en-US" dirty="0"/>
              <a:t>−85% (QFT, 57.4K→8.8K), −99% (Ripple-Carry, 15M→139K)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484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C1AE34-4203-0E09-CC92-D2566C2A9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Findings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706B1D5-E8A8-4EB9-1585-80E53FA26010}"/>
              </a:ext>
            </a:extLst>
          </p:cNvPr>
          <p:cNvSpPr txBox="1"/>
          <p:nvPr/>
        </p:nvSpPr>
        <p:spPr>
          <a:xfrm>
            <a:off x="838200" y="1690688"/>
            <a:ext cx="700309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/>
              <a:t>High-</a:t>
            </a:r>
            <a:r>
              <a:rPr lang="it-IT" sz="2400" b="1" dirty="0" err="1"/>
              <a:t>level</a:t>
            </a:r>
            <a:r>
              <a:rPr lang="it-IT" sz="2400" b="1" dirty="0"/>
              <a:t> </a:t>
            </a:r>
            <a:r>
              <a:rPr lang="it-IT" sz="2400" b="1" dirty="0" err="1"/>
              <a:t>semantics</a:t>
            </a:r>
            <a:r>
              <a:rPr lang="it-IT" sz="2400" b="1" dirty="0"/>
              <a:t> </a:t>
            </a:r>
            <a:r>
              <a:rPr lang="it-IT" sz="2400" b="1" dirty="0" err="1"/>
              <a:t>pay</a:t>
            </a:r>
            <a:r>
              <a:rPr lang="it-IT" sz="2400" b="1" dirty="0"/>
              <a:t> off: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400" dirty="0" err="1"/>
              <a:t>VecMat</a:t>
            </a:r>
            <a:r>
              <a:rPr lang="it-IT" sz="2400" dirty="0"/>
              <a:t> IR </a:t>
            </a:r>
            <a:r>
              <a:rPr lang="it-IT" sz="2400" dirty="0" err="1"/>
              <a:t>enables</a:t>
            </a:r>
            <a:r>
              <a:rPr lang="it-IT" sz="2400" dirty="0"/>
              <a:t> compile-time </a:t>
            </a:r>
            <a:r>
              <a:rPr lang="it-IT" sz="2400" dirty="0" err="1"/>
              <a:t>analysis</a:t>
            </a:r>
            <a:r>
              <a:rPr lang="it-IT" sz="2400" dirty="0"/>
              <a:t> </a:t>
            </a:r>
            <a:r>
              <a:rPr lang="it-IT" sz="2400" dirty="0" err="1"/>
              <a:t>that</a:t>
            </a:r>
            <a:r>
              <a:rPr lang="it-IT" sz="2400" dirty="0"/>
              <a:t> scalar pipelines </a:t>
            </a:r>
            <a:r>
              <a:rPr lang="it-IT" sz="2400" dirty="0" err="1"/>
              <a:t>lose</a:t>
            </a:r>
            <a:r>
              <a:rPr lang="it-IT" sz="2400" dirty="0"/>
              <a:t> to loop </a:t>
            </a:r>
            <a:r>
              <a:rPr lang="it-IT" sz="2400" dirty="0" err="1"/>
              <a:t>unrolling</a:t>
            </a:r>
            <a:endParaRPr lang="it-IT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it-IT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 err="1"/>
              <a:t>Backend</a:t>
            </a:r>
            <a:r>
              <a:rPr lang="it-IT" sz="2400" b="1" dirty="0"/>
              <a:t> </a:t>
            </a:r>
            <a:r>
              <a:rPr lang="it-IT" sz="2400" b="1" dirty="0" err="1"/>
              <a:t>choice</a:t>
            </a:r>
            <a:r>
              <a:rPr lang="it-IT" sz="2400" b="1" dirty="0"/>
              <a:t> </a:t>
            </a:r>
            <a:r>
              <a:rPr lang="it-IT" sz="2400" b="1" dirty="0" err="1"/>
              <a:t>is</a:t>
            </a:r>
            <a:r>
              <a:rPr lang="it-IT" sz="2400" b="1" dirty="0"/>
              <a:t> a hardware trade-off: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QFT for NISQ, Ripple-Carry for fault-tolerant</a:t>
            </a:r>
            <a:endParaRPr lang="it-IT" sz="2400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Sparsity optimization: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Static optimization pass yields </a:t>
            </a:r>
            <a:r>
              <a:rPr lang="en-US" sz="2400" b="1" dirty="0"/>
              <a:t>order-of-magnitude reductions</a:t>
            </a:r>
            <a:r>
              <a:rPr lang="en-US" sz="2400" dirty="0"/>
              <a:t> in all metrics for both backends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BB1BF509-4EB0-C691-B5A3-085511D75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107" y="2279650"/>
            <a:ext cx="2273300" cy="229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462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EA7FBF-B8D0-6CBC-369B-20C7CD23C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Conclusion</a:t>
            </a:r>
            <a:r>
              <a:rPr lang="it-IT" dirty="0"/>
              <a:t> and Future Outlook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21A758-6799-B969-49EA-B7405432D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Extended </a:t>
            </a:r>
            <a:r>
              <a:rPr lang="en-US" sz="2400" b="1" dirty="0"/>
              <a:t>QuantumC </a:t>
            </a:r>
            <a:r>
              <a:rPr lang="en-US" sz="2400" dirty="0"/>
              <a:t>with native </a:t>
            </a:r>
            <a:r>
              <a:rPr lang="en-US" sz="2400" b="1" dirty="0"/>
              <a:t>vector and matrix </a:t>
            </a:r>
            <a:r>
              <a:rPr lang="en-US" sz="2400" dirty="0"/>
              <a:t>support</a:t>
            </a:r>
          </a:p>
          <a:p>
            <a:r>
              <a:rPr lang="en-US" sz="2400" b="1" dirty="0"/>
              <a:t>Pattern recognition </a:t>
            </a:r>
            <a:r>
              <a:rPr lang="en-US" sz="2400" dirty="0"/>
              <a:t>+ dedicated </a:t>
            </a:r>
            <a:r>
              <a:rPr lang="en-US" sz="2400" b="1" dirty="0"/>
              <a:t>VecMat IR</a:t>
            </a:r>
            <a:r>
              <a:rPr lang="en-US" sz="2400" dirty="0"/>
              <a:t> fully integrated in the </a:t>
            </a:r>
            <a:r>
              <a:rPr lang="en-US" sz="2400" b="1" dirty="0"/>
              <a:t>MLIR</a:t>
            </a:r>
            <a:r>
              <a:rPr lang="en-US" sz="2400" dirty="0"/>
              <a:t> pipeline</a:t>
            </a:r>
          </a:p>
          <a:p>
            <a:r>
              <a:rPr lang="en-US" sz="2400" dirty="0"/>
              <a:t>Characterized </a:t>
            </a:r>
            <a:r>
              <a:rPr lang="en-US" sz="2400" b="1" dirty="0"/>
              <a:t>QFT vs. Ripple-Carry </a:t>
            </a:r>
            <a:r>
              <a:rPr lang="en-US" sz="2400" dirty="0"/>
              <a:t>backends on three kernels</a:t>
            </a:r>
          </a:p>
          <a:p>
            <a:r>
              <a:rPr lang="en-US" sz="2400" b="1" dirty="0"/>
              <a:t>Sparsity optimization </a:t>
            </a:r>
            <a:r>
              <a:rPr lang="en-US" sz="2400" dirty="0"/>
              <a:t>delivers up to </a:t>
            </a:r>
            <a:r>
              <a:rPr lang="en-US" sz="2400" b="1" dirty="0"/>
              <a:t>99% quantum resources reduction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sz="2400" b="1" dirty="0"/>
              <a:t>Future work</a:t>
            </a:r>
          </a:p>
          <a:p>
            <a:pPr lvl="1" algn="just"/>
            <a:r>
              <a:rPr lang="en-US" sz="1800" dirty="0"/>
              <a:t>Broader algebraic kernels</a:t>
            </a:r>
          </a:p>
          <a:p>
            <a:pPr lvl="1" algn="just"/>
            <a:r>
              <a:rPr lang="en-US" sz="1800" dirty="0"/>
              <a:t>Runtime-dependent dimensions via mid-circuit measurement / quantum memory</a:t>
            </a:r>
          </a:p>
          <a:p>
            <a:pPr lvl="1" algn="just"/>
            <a:r>
              <a:rPr lang="en-US" sz="1800" dirty="0"/>
              <a:t>Coverage study on real quantum/HPC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55559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20067C-4935-54D3-7EEB-4F2D4AE83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it-IT" sz="7200" dirty="0"/>
              <a:t>Thank for the </a:t>
            </a:r>
            <a:r>
              <a:rPr lang="it-IT" sz="7200" dirty="0" err="1"/>
              <a:t>attention</a:t>
            </a:r>
            <a:r>
              <a:rPr lang="it-IT" sz="7200" dirty="0"/>
              <a:t>!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15CD2D4-9975-6A03-2EAF-16695B578C6A}"/>
              </a:ext>
            </a:extLst>
          </p:cNvPr>
          <p:cNvSpPr txBox="1"/>
          <p:nvPr/>
        </p:nvSpPr>
        <p:spPr>
          <a:xfrm>
            <a:off x="3380160" y="5494565"/>
            <a:ext cx="54316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dirty="0" err="1"/>
              <a:t>giacomo.lancellotti@polimi.it</a:t>
            </a:r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42599635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9010</TotalTime>
  <Words>868</Words>
  <Application>Microsoft Macintosh PowerPoint</Application>
  <PresentationFormat>Widescreen</PresentationFormat>
  <Paragraphs>133</Paragraphs>
  <Slides>21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Tema di Office</vt:lpstr>
      <vt:lpstr>Compiling Linear Algebra Workloads from C to Quantum Circuits via Multi Level Intermediate Representation </vt:lpstr>
      <vt:lpstr>Classical Computing Model</vt:lpstr>
      <vt:lpstr>Quantum Computing Model</vt:lpstr>
      <vt:lpstr>Quantum Programming</vt:lpstr>
      <vt:lpstr>From C Programs to Quantum Circuits</vt:lpstr>
      <vt:lpstr>QuantumC</vt:lpstr>
      <vt:lpstr>Multi-Level Intermediate Representation</vt:lpstr>
      <vt:lpstr>Quantum Aware Representation</vt:lpstr>
      <vt:lpstr>Quantum Representation</vt:lpstr>
      <vt:lpstr>QuantumC Extension</vt:lpstr>
      <vt:lpstr>Linear Algebra Kernels</vt:lpstr>
      <vt:lpstr>Compilation Flow</vt:lpstr>
      <vt:lpstr>Sparsity Optimization</vt:lpstr>
      <vt:lpstr>Performance Evaluation</vt:lpstr>
      <vt:lpstr>Resource Analysis – Addition</vt:lpstr>
      <vt:lpstr>Resource Analysis – Dot Product</vt:lpstr>
      <vt:lpstr>Resource Analysis – Multiplication</vt:lpstr>
      <vt:lpstr>Sparsity Optimization Impact</vt:lpstr>
      <vt:lpstr>Findings</vt:lpstr>
      <vt:lpstr>Conclusion and Future Outlook</vt:lpstr>
      <vt:lpstr>Thank for the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Giacomo Lancellotti</dc:creator>
  <cp:lastModifiedBy>Giacomo Lancellotti</cp:lastModifiedBy>
  <cp:revision>16</cp:revision>
  <cp:lastPrinted>2026-01-20T03:09:29Z</cp:lastPrinted>
  <dcterms:created xsi:type="dcterms:W3CDTF">2026-01-16T12:47:58Z</dcterms:created>
  <dcterms:modified xsi:type="dcterms:W3CDTF">2026-05-21T09:34:43Z</dcterms:modified>
</cp:coreProperties>
</file>